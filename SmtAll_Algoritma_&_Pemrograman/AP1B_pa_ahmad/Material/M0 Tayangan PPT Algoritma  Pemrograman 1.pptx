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329" r:id="rId4"/>
    <p:sldId id="317" r:id="rId5"/>
    <p:sldId id="316" r:id="rId6"/>
    <p:sldId id="259" r:id="rId7"/>
    <p:sldId id="285" r:id="rId8"/>
    <p:sldId id="261" r:id="rId9"/>
    <p:sldId id="262" r:id="rId10"/>
    <p:sldId id="263" r:id="rId11"/>
    <p:sldId id="324" r:id="rId12"/>
    <p:sldId id="332" r:id="rId13"/>
    <p:sldId id="335" r:id="rId14"/>
    <p:sldId id="333" r:id="rId15"/>
    <p:sldId id="326" r:id="rId16"/>
    <p:sldId id="274" r:id="rId17"/>
    <p:sldId id="275" r:id="rId18"/>
    <p:sldId id="276" r:id="rId19"/>
    <p:sldId id="334" r:id="rId20"/>
    <p:sldId id="286" r:id="rId21"/>
    <p:sldId id="287" r:id="rId22"/>
    <p:sldId id="265" r:id="rId23"/>
    <p:sldId id="268" r:id="rId24"/>
    <p:sldId id="269" r:id="rId25"/>
  </p:sldIdLst>
  <p:sldSz cx="9144000" cy="5143500" type="screen16x9"/>
  <p:notesSz cx="6858000" cy="9144000"/>
  <p:embeddedFontLst>
    <p:embeddedFont>
      <p:font typeface="Barlow Condensed Medium" panose="00000606000000000000" pitchFamily="2" charset="0"/>
      <p:regular r:id="rId27"/>
      <p:italic r:id="rId28"/>
    </p:embeddedFont>
    <p:embeddedFont>
      <p:font typeface="Barlow Light" panose="00000400000000000000" pitchFamily="2" charset="0"/>
      <p:regular r:id="rId29"/>
      <p:bold r:id="rId30"/>
      <p:italic r:id="rId31"/>
      <p:boldItalic r:id="rId32"/>
    </p:embeddedFont>
    <p:embeddedFont>
      <p:font typeface="Barlow SemiBold" panose="00000700000000000000" pitchFamily="2" charset="0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60CA2F-AD4F-43A7-B7A6-27E5CA5AA7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E31679FC-7606-471D-BB11-6C18445E7FC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/>
    <p:restoredTop sz="90898" autoAdjust="0"/>
  </p:normalViewPr>
  <p:slideViewPr>
    <p:cSldViewPr snapToGrid="0" snapToObjects="1">
      <p:cViewPr varScale="1">
        <p:scale>
          <a:sx n="98" d="100"/>
          <a:sy n="98" d="100"/>
        </p:scale>
        <p:origin x="10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0FFA02-8307-4407-A325-50480C6027C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58C8E44-4E4C-4ED2-85FD-C525EA72681E}">
      <dgm:prSet phldrT="[Text]"/>
      <dgm:spPr/>
      <dgm:t>
        <a:bodyPr/>
        <a:lstStyle/>
        <a:p>
          <a:r>
            <a:rPr lang="en-US" b="0" i="1" dirty="0"/>
            <a:t>Finiteness (</a:t>
          </a:r>
          <a:r>
            <a:rPr lang="en-US" b="0" i="1" dirty="0" err="1"/>
            <a:t>Keterbatasan</a:t>
          </a:r>
          <a:r>
            <a:rPr lang="en-US" b="0" i="1" dirty="0"/>
            <a:t>)</a:t>
          </a:r>
          <a:endParaRPr lang="en-US" dirty="0"/>
        </a:p>
      </dgm:t>
    </dgm:pt>
    <dgm:pt modelId="{CE2839D5-C55B-4940-9EB7-48631C116DD0}" type="parTrans" cxnId="{8F4819A6-F17F-4833-B2EE-0C0062E20987}">
      <dgm:prSet/>
      <dgm:spPr/>
      <dgm:t>
        <a:bodyPr/>
        <a:lstStyle/>
        <a:p>
          <a:endParaRPr lang="en-US"/>
        </a:p>
      </dgm:t>
    </dgm:pt>
    <dgm:pt modelId="{ACA38F29-A4A9-4C7D-ABBE-5614FC009C88}" type="sibTrans" cxnId="{8F4819A6-F17F-4833-B2EE-0C0062E20987}">
      <dgm:prSet/>
      <dgm:spPr/>
      <dgm:t>
        <a:bodyPr/>
        <a:lstStyle/>
        <a:p>
          <a:endParaRPr lang="en-US"/>
        </a:p>
      </dgm:t>
    </dgm:pt>
    <dgm:pt modelId="{F01FEDCD-89B3-4081-A2CE-333198013A6D}">
      <dgm:prSet phldrT="[Text]"/>
      <dgm:spPr/>
      <dgm:t>
        <a:bodyPr/>
        <a:lstStyle/>
        <a:p>
          <a:r>
            <a:rPr lang="en-US" b="0" i="1" dirty="0"/>
            <a:t>Definiteness (</a:t>
          </a:r>
          <a:r>
            <a:rPr lang="en-US" b="0" i="1" dirty="0" err="1"/>
            <a:t>Kepastian</a:t>
          </a:r>
          <a:r>
            <a:rPr lang="en-US" b="0" i="1" dirty="0"/>
            <a:t>)</a:t>
          </a:r>
          <a:endParaRPr lang="en-US" dirty="0"/>
        </a:p>
      </dgm:t>
    </dgm:pt>
    <dgm:pt modelId="{9E1A1DE1-F652-4B7C-866F-700E249A2C78}" type="parTrans" cxnId="{AEEAD61F-EC28-46B1-BCCC-E5AA53658255}">
      <dgm:prSet/>
      <dgm:spPr/>
      <dgm:t>
        <a:bodyPr/>
        <a:lstStyle/>
        <a:p>
          <a:endParaRPr lang="en-US"/>
        </a:p>
      </dgm:t>
    </dgm:pt>
    <dgm:pt modelId="{739C5CEB-2C6A-4F6C-AA20-7C116AE21D32}" type="sibTrans" cxnId="{AEEAD61F-EC28-46B1-BCCC-E5AA53658255}">
      <dgm:prSet/>
      <dgm:spPr/>
      <dgm:t>
        <a:bodyPr/>
        <a:lstStyle/>
        <a:p>
          <a:endParaRPr lang="en-US"/>
        </a:p>
      </dgm:t>
    </dgm:pt>
    <dgm:pt modelId="{3810A7DC-697A-46F8-BBD2-5DD81B5FD89C}">
      <dgm:prSet phldrT="[Text]"/>
      <dgm:spPr/>
      <dgm:t>
        <a:bodyPr/>
        <a:lstStyle/>
        <a:p>
          <a:r>
            <a:rPr lang="en-US" dirty="0" err="1"/>
            <a:t>Memiliki</a:t>
          </a:r>
          <a:r>
            <a:rPr lang="en-US" dirty="0"/>
            <a:t> Input</a:t>
          </a:r>
        </a:p>
      </dgm:t>
    </dgm:pt>
    <dgm:pt modelId="{D4F9B106-874F-4CA6-9100-D7F9E024695A}" type="parTrans" cxnId="{397F8634-9D42-4248-89C4-0B03D4632E07}">
      <dgm:prSet/>
      <dgm:spPr/>
      <dgm:t>
        <a:bodyPr/>
        <a:lstStyle/>
        <a:p>
          <a:endParaRPr lang="en-US"/>
        </a:p>
      </dgm:t>
    </dgm:pt>
    <dgm:pt modelId="{71EE9DFC-02BF-486E-817E-DC93C7568D5F}" type="sibTrans" cxnId="{397F8634-9D42-4248-89C4-0B03D4632E07}">
      <dgm:prSet/>
      <dgm:spPr/>
      <dgm:t>
        <a:bodyPr/>
        <a:lstStyle/>
        <a:p>
          <a:endParaRPr lang="en-US"/>
        </a:p>
      </dgm:t>
    </dgm:pt>
    <dgm:pt modelId="{A43D0622-E0BB-4D89-8BFB-B3A36DA1DA97}">
      <dgm:prSet phldrT="[Text]"/>
      <dgm:spPr/>
      <dgm:t>
        <a:bodyPr/>
        <a:lstStyle/>
        <a:p>
          <a:r>
            <a:rPr lang="en-US" dirty="0" err="1"/>
            <a:t>Menghasilkan</a:t>
          </a:r>
          <a:r>
            <a:rPr lang="en-US" dirty="0"/>
            <a:t> Output</a:t>
          </a:r>
        </a:p>
      </dgm:t>
    </dgm:pt>
    <dgm:pt modelId="{D41EF54A-351D-48E0-B610-B3B9D6BED9AC}" type="parTrans" cxnId="{A733570C-F5C3-4130-AD03-BD2F3F476741}">
      <dgm:prSet/>
      <dgm:spPr/>
      <dgm:t>
        <a:bodyPr/>
        <a:lstStyle/>
        <a:p>
          <a:endParaRPr lang="en-US"/>
        </a:p>
      </dgm:t>
    </dgm:pt>
    <dgm:pt modelId="{271E006D-1F85-4E8E-B9BC-6D956D58D2A1}" type="sibTrans" cxnId="{A733570C-F5C3-4130-AD03-BD2F3F476741}">
      <dgm:prSet/>
      <dgm:spPr/>
      <dgm:t>
        <a:bodyPr/>
        <a:lstStyle/>
        <a:p>
          <a:endParaRPr lang="en-US"/>
        </a:p>
      </dgm:t>
    </dgm:pt>
    <dgm:pt modelId="{3827FF3E-B222-45AD-A5D4-34AAE1FE24EF}">
      <dgm:prSet phldrT="[Text]"/>
      <dgm:spPr/>
      <dgm:t>
        <a:bodyPr/>
        <a:lstStyle/>
        <a:p>
          <a:r>
            <a:rPr lang="en-US" dirty="0"/>
            <a:t>Effectiveness (</a:t>
          </a:r>
          <a:r>
            <a:rPr lang="en-US" dirty="0" err="1"/>
            <a:t>Efektivtias</a:t>
          </a:r>
          <a:r>
            <a:rPr lang="en-US" dirty="0"/>
            <a:t>)</a:t>
          </a:r>
        </a:p>
      </dgm:t>
    </dgm:pt>
    <dgm:pt modelId="{57AFF068-A30E-4D1E-AE0E-6E2205661A9A}" type="parTrans" cxnId="{A7E61340-B1A2-4BA3-8ECB-27E6A011BF3E}">
      <dgm:prSet/>
      <dgm:spPr/>
      <dgm:t>
        <a:bodyPr/>
        <a:lstStyle/>
        <a:p>
          <a:endParaRPr lang="en-US"/>
        </a:p>
      </dgm:t>
    </dgm:pt>
    <dgm:pt modelId="{59D31243-4EF6-40A7-882E-FE3D9A81AE08}" type="sibTrans" cxnId="{A7E61340-B1A2-4BA3-8ECB-27E6A011BF3E}">
      <dgm:prSet/>
      <dgm:spPr/>
      <dgm:t>
        <a:bodyPr/>
        <a:lstStyle/>
        <a:p>
          <a:endParaRPr lang="en-US"/>
        </a:p>
      </dgm:t>
    </dgm:pt>
    <dgm:pt modelId="{F2CACBA5-8162-4132-8A95-7BAFB63F0718}" type="pres">
      <dgm:prSet presAssocID="{E10FFA02-8307-4407-A325-50480C6027C8}" presName="Name0" presStyleCnt="0">
        <dgm:presLayoutVars>
          <dgm:chMax val="7"/>
          <dgm:chPref val="7"/>
          <dgm:dir/>
        </dgm:presLayoutVars>
      </dgm:prSet>
      <dgm:spPr/>
    </dgm:pt>
    <dgm:pt modelId="{7EA09BE4-4E37-446A-8712-374C48D0E764}" type="pres">
      <dgm:prSet presAssocID="{E10FFA02-8307-4407-A325-50480C6027C8}" presName="Name1" presStyleCnt="0"/>
      <dgm:spPr/>
    </dgm:pt>
    <dgm:pt modelId="{39DEA68D-3204-4DD3-8CFC-083E26724571}" type="pres">
      <dgm:prSet presAssocID="{E10FFA02-8307-4407-A325-50480C6027C8}" presName="cycle" presStyleCnt="0"/>
      <dgm:spPr/>
    </dgm:pt>
    <dgm:pt modelId="{6FD2D58C-F6CB-4973-87A6-D35D1BB5ECEA}" type="pres">
      <dgm:prSet presAssocID="{E10FFA02-8307-4407-A325-50480C6027C8}" presName="srcNode" presStyleLbl="node1" presStyleIdx="0" presStyleCnt="5"/>
      <dgm:spPr/>
    </dgm:pt>
    <dgm:pt modelId="{E919D301-9A15-41C4-9B95-986E377AA032}" type="pres">
      <dgm:prSet presAssocID="{E10FFA02-8307-4407-A325-50480C6027C8}" presName="conn" presStyleLbl="parChTrans1D2" presStyleIdx="0" presStyleCnt="1"/>
      <dgm:spPr/>
    </dgm:pt>
    <dgm:pt modelId="{CE4DE507-F116-4463-B480-8EE0BABAA5D0}" type="pres">
      <dgm:prSet presAssocID="{E10FFA02-8307-4407-A325-50480C6027C8}" presName="extraNode" presStyleLbl="node1" presStyleIdx="0" presStyleCnt="5"/>
      <dgm:spPr/>
    </dgm:pt>
    <dgm:pt modelId="{D0723862-0996-490E-AAF7-0156D807CEA4}" type="pres">
      <dgm:prSet presAssocID="{E10FFA02-8307-4407-A325-50480C6027C8}" presName="dstNode" presStyleLbl="node1" presStyleIdx="0" presStyleCnt="5"/>
      <dgm:spPr/>
    </dgm:pt>
    <dgm:pt modelId="{C3C60424-BE96-4188-9937-A59B76BD681F}" type="pres">
      <dgm:prSet presAssocID="{A58C8E44-4E4C-4ED2-85FD-C525EA72681E}" presName="text_1" presStyleLbl="node1" presStyleIdx="0" presStyleCnt="5">
        <dgm:presLayoutVars>
          <dgm:bulletEnabled val="1"/>
        </dgm:presLayoutVars>
      </dgm:prSet>
      <dgm:spPr/>
    </dgm:pt>
    <dgm:pt modelId="{0A55F2F0-2A14-4FF7-8933-D4E6C7E4AEA1}" type="pres">
      <dgm:prSet presAssocID="{A58C8E44-4E4C-4ED2-85FD-C525EA72681E}" presName="accent_1" presStyleCnt="0"/>
      <dgm:spPr/>
    </dgm:pt>
    <dgm:pt modelId="{2AAE9CA1-8855-406C-90F6-C06EDD299C84}" type="pres">
      <dgm:prSet presAssocID="{A58C8E44-4E4C-4ED2-85FD-C525EA72681E}" presName="accentRepeatNode" presStyleLbl="solidFgAcc1" presStyleIdx="0" presStyleCnt="5"/>
      <dgm:spPr/>
    </dgm:pt>
    <dgm:pt modelId="{9DA7DC93-A645-4F0C-8242-71D5038DE6B0}" type="pres">
      <dgm:prSet presAssocID="{F01FEDCD-89B3-4081-A2CE-333198013A6D}" presName="text_2" presStyleLbl="node1" presStyleIdx="1" presStyleCnt="5">
        <dgm:presLayoutVars>
          <dgm:bulletEnabled val="1"/>
        </dgm:presLayoutVars>
      </dgm:prSet>
      <dgm:spPr/>
    </dgm:pt>
    <dgm:pt modelId="{B0397D5D-C4F7-412E-A4A7-39395C5EBD4F}" type="pres">
      <dgm:prSet presAssocID="{F01FEDCD-89B3-4081-A2CE-333198013A6D}" presName="accent_2" presStyleCnt="0"/>
      <dgm:spPr/>
    </dgm:pt>
    <dgm:pt modelId="{E4724096-1F30-4E3D-ADBF-059E673B033E}" type="pres">
      <dgm:prSet presAssocID="{F01FEDCD-89B3-4081-A2CE-333198013A6D}" presName="accentRepeatNode" presStyleLbl="solidFgAcc1" presStyleIdx="1" presStyleCnt="5"/>
      <dgm:spPr/>
    </dgm:pt>
    <dgm:pt modelId="{041D7852-5CF4-4FE6-8EF7-0E1FA203E688}" type="pres">
      <dgm:prSet presAssocID="{3810A7DC-697A-46F8-BBD2-5DD81B5FD89C}" presName="text_3" presStyleLbl="node1" presStyleIdx="2" presStyleCnt="5">
        <dgm:presLayoutVars>
          <dgm:bulletEnabled val="1"/>
        </dgm:presLayoutVars>
      </dgm:prSet>
      <dgm:spPr/>
    </dgm:pt>
    <dgm:pt modelId="{6105DE88-279D-4D0B-BBAB-69C0CD7305BE}" type="pres">
      <dgm:prSet presAssocID="{3810A7DC-697A-46F8-BBD2-5DD81B5FD89C}" presName="accent_3" presStyleCnt="0"/>
      <dgm:spPr/>
    </dgm:pt>
    <dgm:pt modelId="{050E05F7-A469-44B6-ACF7-804DD710598E}" type="pres">
      <dgm:prSet presAssocID="{3810A7DC-697A-46F8-BBD2-5DD81B5FD89C}" presName="accentRepeatNode" presStyleLbl="solidFgAcc1" presStyleIdx="2" presStyleCnt="5"/>
      <dgm:spPr/>
    </dgm:pt>
    <dgm:pt modelId="{6362BEB0-F098-461B-81FB-AD3E6679A81A}" type="pres">
      <dgm:prSet presAssocID="{A43D0622-E0BB-4D89-8BFB-B3A36DA1DA97}" presName="text_4" presStyleLbl="node1" presStyleIdx="3" presStyleCnt="5">
        <dgm:presLayoutVars>
          <dgm:bulletEnabled val="1"/>
        </dgm:presLayoutVars>
      </dgm:prSet>
      <dgm:spPr/>
    </dgm:pt>
    <dgm:pt modelId="{33942FAD-4DF9-469E-94A8-C69460D6F2D3}" type="pres">
      <dgm:prSet presAssocID="{A43D0622-E0BB-4D89-8BFB-B3A36DA1DA97}" presName="accent_4" presStyleCnt="0"/>
      <dgm:spPr/>
    </dgm:pt>
    <dgm:pt modelId="{8DD61D73-52C0-4775-8A52-AE24C367AC2B}" type="pres">
      <dgm:prSet presAssocID="{A43D0622-E0BB-4D89-8BFB-B3A36DA1DA97}" presName="accentRepeatNode" presStyleLbl="solidFgAcc1" presStyleIdx="3" presStyleCnt="5"/>
      <dgm:spPr/>
    </dgm:pt>
    <dgm:pt modelId="{6AF8AE24-D545-4824-84D5-828644A56E50}" type="pres">
      <dgm:prSet presAssocID="{3827FF3E-B222-45AD-A5D4-34AAE1FE24EF}" presName="text_5" presStyleLbl="node1" presStyleIdx="4" presStyleCnt="5">
        <dgm:presLayoutVars>
          <dgm:bulletEnabled val="1"/>
        </dgm:presLayoutVars>
      </dgm:prSet>
      <dgm:spPr/>
    </dgm:pt>
    <dgm:pt modelId="{C4EF3565-96D4-41C5-ABEB-B17B9A222480}" type="pres">
      <dgm:prSet presAssocID="{3827FF3E-B222-45AD-A5D4-34AAE1FE24EF}" presName="accent_5" presStyleCnt="0"/>
      <dgm:spPr/>
    </dgm:pt>
    <dgm:pt modelId="{7F007BD4-AF50-4F8D-89D4-5DC2AEE5F4D6}" type="pres">
      <dgm:prSet presAssocID="{3827FF3E-B222-45AD-A5D4-34AAE1FE24EF}" presName="accentRepeatNode" presStyleLbl="solidFgAcc1" presStyleIdx="4" presStyleCnt="5"/>
      <dgm:spPr/>
    </dgm:pt>
  </dgm:ptLst>
  <dgm:cxnLst>
    <dgm:cxn modelId="{A733570C-F5C3-4130-AD03-BD2F3F476741}" srcId="{E10FFA02-8307-4407-A325-50480C6027C8}" destId="{A43D0622-E0BB-4D89-8BFB-B3A36DA1DA97}" srcOrd="3" destOrd="0" parTransId="{D41EF54A-351D-48E0-B610-B3B9D6BED9AC}" sibTransId="{271E006D-1F85-4E8E-B9BC-6D956D58D2A1}"/>
    <dgm:cxn modelId="{AEEAD61F-EC28-46B1-BCCC-E5AA53658255}" srcId="{E10FFA02-8307-4407-A325-50480C6027C8}" destId="{F01FEDCD-89B3-4081-A2CE-333198013A6D}" srcOrd="1" destOrd="0" parTransId="{9E1A1DE1-F652-4B7C-866F-700E249A2C78}" sibTransId="{739C5CEB-2C6A-4F6C-AA20-7C116AE21D32}"/>
    <dgm:cxn modelId="{A41FEA29-82A1-453D-A6AE-31963C8AC190}" type="presOf" srcId="{3810A7DC-697A-46F8-BBD2-5DD81B5FD89C}" destId="{041D7852-5CF4-4FE6-8EF7-0E1FA203E688}" srcOrd="0" destOrd="0" presId="urn:microsoft.com/office/officeart/2008/layout/VerticalCurvedList"/>
    <dgm:cxn modelId="{397F8634-9D42-4248-89C4-0B03D4632E07}" srcId="{E10FFA02-8307-4407-A325-50480C6027C8}" destId="{3810A7DC-697A-46F8-BBD2-5DD81B5FD89C}" srcOrd="2" destOrd="0" parTransId="{D4F9B106-874F-4CA6-9100-D7F9E024695A}" sibTransId="{71EE9DFC-02BF-486E-817E-DC93C7568D5F}"/>
    <dgm:cxn modelId="{7A5ADC3C-DE41-47CB-901F-120043C844F1}" type="presOf" srcId="{F01FEDCD-89B3-4081-A2CE-333198013A6D}" destId="{9DA7DC93-A645-4F0C-8242-71D5038DE6B0}" srcOrd="0" destOrd="0" presId="urn:microsoft.com/office/officeart/2008/layout/VerticalCurvedList"/>
    <dgm:cxn modelId="{A7E61340-B1A2-4BA3-8ECB-27E6A011BF3E}" srcId="{E10FFA02-8307-4407-A325-50480C6027C8}" destId="{3827FF3E-B222-45AD-A5D4-34AAE1FE24EF}" srcOrd="4" destOrd="0" parTransId="{57AFF068-A30E-4D1E-AE0E-6E2205661A9A}" sibTransId="{59D31243-4EF6-40A7-882E-FE3D9A81AE08}"/>
    <dgm:cxn modelId="{EFFA4B5B-C9A1-43E4-8E85-6BA328B691BF}" type="presOf" srcId="{3827FF3E-B222-45AD-A5D4-34AAE1FE24EF}" destId="{6AF8AE24-D545-4824-84D5-828644A56E50}" srcOrd="0" destOrd="0" presId="urn:microsoft.com/office/officeart/2008/layout/VerticalCurvedList"/>
    <dgm:cxn modelId="{65A41C66-FB41-4B26-800A-445B1CF4A5A9}" type="presOf" srcId="{A58C8E44-4E4C-4ED2-85FD-C525EA72681E}" destId="{C3C60424-BE96-4188-9937-A59B76BD681F}" srcOrd="0" destOrd="0" presId="urn:microsoft.com/office/officeart/2008/layout/VerticalCurvedList"/>
    <dgm:cxn modelId="{516F7989-530D-48CB-9DB4-54A9CD6CCEDB}" type="presOf" srcId="{A43D0622-E0BB-4D89-8BFB-B3A36DA1DA97}" destId="{6362BEB0-F098-461B-81FB-AD3E6679A81A}" srcOrd="0" destOrd="0" presId="urn:microsoft.com/office/officeart/2008/layout/VerticalCurvedList"/>
    <dgm:cxn modelId="{8F4819A6-F17F-4833-B2EE-0C0062E20987}" srcId="{E10FFA02-8307-4407-A325-50480C6027C8}" destId="{A58C8E44-4E4C-4ED2-85FD-C525EA72681E}" srcOrd="0" destOrd="0" parTransId="{CE2839D5-C55B-4940-9EB7-48631C116DD0}" sibTransId="{ACA38F29-A4A9-4C7D-ABBE-5614FC009C88}"/>
    <dgm:cxn modelId="{BCCC16E2-C68B-424D-BD01-EEB9B1DCE46E}" type="presOf" srcId="{E10FFA02-8307-4407-A325-50480C6027C8}" destId="{F2CACBA5-8162-4132-8A95-7BAFB63F0718}" srcOrd="0" destOrd="0" presId="urn:microsoft.com/office/officeart/2008/layout/VerticalCurvedList"/>
    <dgm:cxn modelId="{999316ED-F2CE-412D-9396-DD70B5BF97F3}" type="presOf" srcId="{ACA38F29-A4A9-4C7D-ABBE-5614FC009C88}" destId="{E919D301-9A15-41C4-9B95-986E377AA032}" srcOrd="0" destOrd="0" presId="urn:microsoft.com/office/officeart/2008/layout/VerticalCurvedList"/>
    <dgm:cxn modelId="{C9A40248-9483-49CB-9515-7CBA8663DAD2}" type="presParOf" srcId="{F2CACBA5-8162-4132-8A95-7BAFB63F0718}" destId="{7EA09BE4-4E37-446A-8712-374C48D0E764}" srcOrd="0" destOrd="0" presId="urn:microsoft.com/office/officeart/2008/layout/VerticalCurvedList"/>
    <dgm:cxn modelId="{1C584D9D-375F-49C9-8FFB-3E6318F9488B}" type="presParOf" srcId="{7EA09BE4-4E37-446A-8712-374C48D0E764}" destId="{39DEA68D-3204-4DD3-8CFC-083E26724571}" srcOrd="0" destOrd="0" presId="urn:microsoft.com/office/officeart/2008/layout/VerticalCurvedList"/>
    <dgm:cxn modelId="{7036044E-5031-4B5C-A8C8-0BFFB0DF2721}" type="presParOf" srcId="{39DEA68D-3204-4DD3-8CFC-083E26724571}" destId="{6FD2D58C-F6CB-4973-87A6-D35D1BB5ECEA}" srcOrd="0" destOrd="0" presId="urn:microsoft.com/office/officeart/2008/layout/VerticalCurvedList"/>
    <dgm:cxn modelId="{971D70FE-BB81-47CF-81BF-D3D206204C7A}" type="presParOf" srcId="{39DEA68D-3204-4DD3-8CFC-083E26724571}" destId="{E919D301-9A15-41C4-9B95-986E377AA032}" srcOrd="1" destOrd="0" presId="urn:microsoft.com/office/officeart/2008/layout/VerticalCurvedList"/>
    <dgm:cxn modelId="{28503933-A653-44DC-ABBF-0E0413A8EA07}" type="presParOf" srcId="{39DEA68D-3204-4DD3-8CFC-083E26724571}" destId="{CE4DE507-F116-4463-B480-8EE0BABAA5D0}" srcOrd="2" destOrd="0" presId="urn:microsoft.com/office/officeart/2008/layout/VerticalCurvedList"/>
    <dgm:cxn modelId="{1D8016A8-ABDF-4F97-96A3-439633E54142}" type="presParOf" srcId="{39DEA68D-3204-4DD3-8CFC-083E26724571}" destId="{D0723862-0996-490E-AAF7-0156D807CEA4}" srcOrd="3" destOrd="0" presId="urn:microsoft.com/office/officeart/2008/layout/VerticalCurvedList"/>
    <dgm:cxn modelId="{B47AFD72-C3F9-4BEB-A86D-559B297E0389}" type="presParOf" srcId="{7EA09BE4-4E37-446A-8712-374C48D0E764}" destId="{C3C60424-BE96-4188-9937-A59B76BD681F}" srcOrd="1" destOrd="0" presId="urn:microsoft.com/office/officeart/2008/layout/VerticalCurvedList"/>
    <dgm:cxn modelId="{B5351040-77A8-4168-B384-E5295C7E1830}" type="presParOf" srcId="{7EA09BE4-4E37-446A-8712-374C48D0E764}" destId="{0A55F2F0-2A14-4FF7-8933-D4E6C7E4AEA1}" srcOrd="2" destOrd="0" presId="urn:microsoft.com/office/officeart/2008/layout/VerticalCurvedList"/>
    <dgm:cxn modelId="{1CE78023-3666-4705-9A4E-87F4DAA5C679}" type="presParOf" srcId="{0A55F2F0-2A14-4FF7-8933-D4E6C7E4AEA1}" destId="{2AAE9CA1-8855-406C-90F6-C06EDD299C84}" srcOrd="0" destOrd="0" presId="urn:microsoft.com/office/officeart/2008/layout/VerticalCurvedList"/>
    <dgm:cxn modelId="{5CB8519D-529C-45A8-8337-EB68E7570864}" type="presParOf" srcId="{7EA09BE4-4E37-446A-8712-374C48D0E764}" destId="{9DA7DC93-A645-4F0C-8242-71D5038DE6B0}" srcOrd="3" destOrd="0" presId="urn:microsoft.com/office/officeart/2008/layout/VerticalCurvedList"/>
    <dgm:cxn modelId="{AAADE33E-BD33-47AB-838E-9BDCE66B7684}" type="presParOf" srcId="{7EA09BE4-4E37-446A-8712-374C48D0E764}" destId="{B0397D5D-C4F7-412E-A4A7-39395C5EBD4F}" srcOrd="4" destOrd="0" presId="urn:microsoft.com/office/officeart/2008/layout/VerticalCurvedList"/>
    <dgm:cxn modelId="{459434D5-D70C-4736-ADAF-B75DFAF107E6}" type="presParOf" srcId="{B0397D5D-C4F7-412E-A4A7-39395C5EBD4F}" destId="{E4724096-1F30-4E3D-ADBF-059E673B033E}" srcOrd="0" destOrd="0" presId="urn:microsoft.com/office/officeart/2008/layout/VerticalCurvedList"/>
    <dgm:cxn modelId="{B83010BC-F21D-46D7-8784-3DC23EC82116}" type="presParOf" srcId="{7EA09BE4-4E37-446A-8712-374C48D0E764}" destId="{041D7852-5CF4-4FE6-8EF7-0E1FA203E688}" srcOrd="5" destOrd="0" presId="urn:microsoft.com/office/officeart/2008/layout/VerticalCurvedList"/>
    <dgm:cxn modelId="{D556BA32-6A12-4807-8553-A2DB639DEF1C}" type="presParOf" srcId="{7EA09BE4-4E37-446A-8712-374C48D0E764}" destId="{6105DE88-279D-4D0B-BBAB-69C0CD7305BE}" srcOrd="6" destOrd="0" presId="urn:microsoft.com/office/officeart/2008/layout/VerticalCurvedList"/>
    <dgm:cxn modelId="{13547046-08EF-4718-AF92-7DA315076063}" type="presParOf" srcId="{6105DE88-279D-4D0B-BBAB-69C0CD7305BE}" destId="{050E05F7-A469-44B6-ACF7-804DD710598E}" srcOrd="0" destOrd="0" presId="urn:microsoft.com/office/officeart/2008/layout/VerticalCurvedList"/>
    <dgm:cxn modelId="{36A97798-9C9C-494D-BF96-26148A32C750}" type="presParOf" srcId="{7EA09BE4-4E37-446A-8712-374C48D0E764}" destId="{6362BEB0-F098-461B-81FB-AD3E6679A81A}" srcOrd="7" destOrd="0" presId="urn:microsoft.com/office/officeart/2008/layout/VerticalCurvedList"/>
    <dgm:cxn modelId="{1F5D4291-B804-4A76-ABF2-01E06FE0746E}" type="presParOf" srcId="{7EA09BE4-4E37-446A-8712-374C48D0E764}" destId="{33942FAD-4DF9-469E-94A8-C69460D6F2D3}" srcOrd="8" destOrd="0" presId="urn:microsoft.com/office/officeart/2008/layout/VerticalCurvedList"/>
    <dgm:cxn modelId="{F216F05C-A5DD-45A0-B6CB-FAA686FBE6F7}" type="presParOf" srcId="{33942FAD-4DF9-469E-94A8-C69460D6F2D3}" destId="{8DD61D73-52C0-4775-8A52-AE24C367AC2B}" srcOrd="0" destOrd="0" presId="urn:microsoft.com/office/officeart/2008/layout/VerticalCurvedList"/>
    <dgm:cxn modelId="{4602E91F-E351-4781-9215-ED660AFE50F0}" type="presParOf" srcId="{7EA09BE4-4E37-446A-8712-374C48D0E764}" destId="{6AF8AE24-D545-4824-84D5-828644A56E50}" srcOrd="9" destOrd="0" presId="urn:microsoft.com/office/officeart/2008/layout/VerticalCurvedList"/>
    <dgm:cxn modelId="{A4BBD0B0-C106-4F84-91AA-8320082BCA56}" type="presParOf" srcId="{7EA09BE4-4E37-446A-8712-374C48D0E764}" destId="{C4EF3565-96D4-41C5-ABEB-B17B9A222480}" srcOrd="10" destOrd="0" presId="urn:microsoft.com/office/officeart/2008/layout/VerticalCurvedList"/>
    <dgm:cxn modelId="{E81332EC-0B5D-49A3-80EF-AAA6E2BB003D}" type="presParOf" srcId="{C4EF3565-96D4-41C5-ABEB-B17B9A222480}" destId="{7F007BD4-AF50-4F8D-89D4-5DC2AEE5F4D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704AD5-4FB0-4834-A6CF-F7F8218BD78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D6A01B4-68EF-4680-ACC4-20D72520E19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600" i="0" u="none" strike="noStrike" dirty="0" err="1">
              <a:effectLst/>
              <a:latin typeface="Lato" panose="020F0502020204030203" pitchFamily="34" charset="0"/>
            </a:rPr>
            <a:t>Definisikan</a:t>
          </a:r>
          <a:r>
            <a:rPr lang="en-US" sz="1600" i="0" u="none" strike="noStrike" dirty="0">
              <a:effectLst/>
              <a:latin typeface="Lato" panose="020F0502020204030203" pitchFamily="34" charset="0"/>
            </a:rPr>
            <a:t> </a:t>
          </a:r>
          <a:r>
            <a:rPr lang="en-US" sz="1600" i="0" u="none" strike="noStrike" dirty="0" err="1">
              <a:effectLst/>
              <a:latin typeface="Lato" panose="020F0502020204030203" pitchFamily="34" charset="0"/>
            </a:rPr>
            <a:t>Masalah</a:t>
          </a:r>
          <a:r>
            <a:rPr lang="en-US" sz="1600" i="0" u="none" strike="noStrike" dirty="0">
              <a:effectLst/>
              <a:latin typeface="Lato" panose="020F0502020204030203" pitchFamily="34" charset="0"/>
            </a:rPr>
            <a:t> yang </a:t>
          </a:r>
          <a:r>
            <a:rPr lang="en-US" sz="1600" i="0" u="none" strike="noStrike" dirty="0" err="1">
              <a:effectLst/>
              <a:latin typeface="Lato" panose="020F0502020204030203" pitchFamily="34" charset="0"/>
            </a:rPr>
            <a:t>ada</a:t>
          </a:r>
          <a:endParaRPr lang="en-US" sz="1600" dirty="0"/>
        </a:p>
      </dgm:t>
    </dgm:pt>
    <dgm:pt modelId="{0269F271-1454-4784-B1E2-6D3B19651413}" type="parTrans" cxnId="{1A5AD477-693B-40E1-8BB0-CBE0B8A37722}">
      <dgm:prSet/>
      <dgm:spPr/>
      <dgm:t>
        <a:bodyPr/>
        <a:lstStyle/>
        <a:p>
          <a:endParaRPr lang="en-US"/>
        </a:p>
      </dgm:t>
    </dgm:pt>
    <dgm:pt modelId="{9E223C68-6996-4359-84EC-D39D978C1F0E}" type="sibTrans" cxnId="{1A5AD477-693B-40E1-8BB0-CBE0B8A37722}">
      <dgm:prSet/>
      <dgm:spPr/>
      <dgm:t>
        <a:bodyPr/>
        <a:lstStyle/>
        <a:p>
          <a:endParaRPr lang="en-US"/>
        </a:p>
      </dgm:t>
    </dgm:pt>
    <dgm:pt modelId="{E43E3B3B-FB08-4E28-AF90-CD1CECAA68AE}">
      <dgm:prSet custT="1"/>
      <dgm:spPr/>
      <dgm:t>
        <a:bodyPr/>
        <a:lstStyle/>
        <a:p>
          <a:r>
            <a:rPr lang="en-US" sz="1600" i="0" u="none" strike="noStrike" dirty="0" err="1">
              <a:effectLst/>
              <a:latin typeface="Lato" panose="020F0502020204030203" pitchFamily="34" charset="0"/>
            </a:rPr>
            <a:t>Membuat</a:t>
          </a:r>
          <a:r>
            <a:rPr lang="en-US" sz="1600" i="0" u="none" strike="noStrike" dirty="0">
              <a:effectLst/>
              <a:latin typeface="Lato" panose="020F0502020204030203" pitchFamily="34" charset="0"/>
            </a:rPr>
            <a:t> Solusi </a:t>
          </a:r>
          <a:r>
            <a:rPr lang="en-US" sz="1600" dirty="0"/>
            <a:t>yang </a:t>
          </a:r>
          <a:r>
            <a:rPr lang="en-US" sz="1600" dirty="0" err="1"/>
            <a:t>mungkin</a:t>
          </a:r>
          <a:r>
            <a:rPr lang="en-US" sz="1600" dirty="0"/>
            <a:t> </a:t>
          </a:r>
          <a:r>
            <a:rPr lang="en-US" sz="1600" dirty="0" err="1"/>
            <a:t>dilakukan</a:t>
          </a:r>
          <a:endParaRPr lang="en-US" sz="1600" i="0" dirty="0">
            <a:effectLst/>
            <a:latin typeface="Lato" panose="020F0502020204030203" pitchFamily="34" charset="0"/>
          </a:endParaRPr>
        </a:p>
      </dgm:t>
    </dgm:pt>
    <dgm:pt modelId="{481CE8E7-7AE6-4F2F-BFBA-DECE3FF300C5}" type="parTrans" cxnId="{2032F4AF-5E8F-457F-98F8-27F660B47679}">
      <dgm:prSet/>
      <dgm:spPr/>
      <dgm:t>
        <a:bodyPr/>
        <a:lstStyle/>
        <a:p>
          <a:endParaRPr lang="en-US"/>
        </a:p>
      </dgm:t>
    </dgm:pt>
    <dgm:pt modelId="{09125FBB-92AB-46D0-8E0D-EEBEE35FBBAF}" type="sibTrans" cxnId="{2032F4AF-5E8F-457F-98F8-27F660B47679}">
      <dgm:prSet/>
      <dgm:spPr/>
      <dgm:t>
        <a:bodyPr/>
        <a:lstStyle/>
        <a:p>
          <a:endParaRPr lang="en-US"/>
        </a:p>
      </dgm:t>
    </dgm:pt>
    <dgm:pt modelId="{A4D54192-C637-43ED-A2C7-A0F1F9282E2A}">
      <dgm:prSet custT="1"/>
      <dgm:spPr/>
      <dgm:t>
        <a:bodyPr/>
        <a:lstStyle/>
        <a:p>
          <a:r>
            <a:rPr lang="en-US" sz="1600" i="0" u="none" strike="noStrike" dirty="0" err="1">
              <a:effectLst/>
              <a:latin typeface="Lato" panose="020F0502020204030203" pitchFamily="34" charset="0"/>
            </a:rPr>
            <a:t>Evaluasi</a:t>
          </a:r>
          <a:r>
            <a:rPr lang="en-US" sz="1600" i="0" u="none" strike="noStrike" dirty="0">
              <a:effectLst/>
              <a:latin typeface="Lato" panose="020F0502020204030203" pitchFamily="34" charset="0"/>
            </a:rPr>
            <a:t> dan </a:t>
          </a:r>
          <a:r>
            <a:rPr lang="en-US" sz="1600" i="0" u="none" strike="noStrike" dirty="0" err="1">
              <a:effectLst/>
              <a:latin typeface="Lato" panose="020F0502020204030203" pitchFamily="34" charset="0"/>
            </a:rPr>
            <a:t>Memilih</a:t>
          </a:r>
          <a:r>
            <a:rPr lang="en-US" sz="1600" i="0" u="none" strike="noStrike" dirty="0">
              <a:effectLst/>
              <a:latin typeface="Lato" panose="020F0502020204030203" pitchFamily="34" charset="0"/>
            </a:rPr>
            <a:t> Solusi yang Paling </a:t>
          </a:r>
          <a:r>
            <a:rPr lang="en-US" sz="1600" i="0" u="none" strike="noStrike" dirty="0" err="1">
              <a:effectLst/>
              <a:latin typeface="Lato" panose="020F0502020204030203" pitchFamily="34" charset="0"/>
            </a:rPr>
            <a:t>Tepat</a:t>
          </a:r>
          <a:endParaRPr lang="en-US" sz="1600" i="0" dirty="0">
            <a:effectLst/>
            <a:latin typeface="Lato" panose="020F0502020204030203" pitchFamily="34" charset="0"/>
          </a:endParaRPr>
        </a:p>
      </dgm:t>
    </dgm:pt>
    <dgm:pt modelId="{5B57FBC3-2987-482D-A766-27A7982DCA4A}" type="parTrans" cxnId="{77C0E7CD-C37A-4EAF-8CAB-FB15C64B2408}">
      <dgm:prSet/>
      <dgm:spPr/>
      <dgm:t>
        <a:bodyPr/>
        <a:lstStyle/>
        <a:p>
          <a:endParaRPr lang="en-US"/>
        </a:p>
      </dgm:t>
    </dgm:pt>
    <dgm:pt modelId="{684FA216-273C-470D-B02D-1882DAC8F438}" type="sibTrans" cxnId="{77C0E7CD-C37A-4EAF-8CAB-FB15C64B2408}">
      <dgm:prSet/>
      <dgm:spPr/>
      <dgm:t>
        <a:bodyPr/>
        <a:lstStyle/>
        <a:p>
          <a:endParaRPr lang="en-US"/>
        </a:p>
      </dgm:t>
    </dgm:pt>
    <dgm:pt modelId="{21DC1F2C-5A38-4725-A1D2-46255C4DCFFF}">
      <dgm:prSet custT="1"/>
      <dgm:spPr/>
      <dgm:t>
        <a:bodyPr/>
        <a:lstStyle/>
        <a:p>
          <a:r>
            <a:rPr lang="en-US" sz="1600" i="0" u="none" strike="noStrike">
              <a:effectLst/>
              <a:latin typeface="Lato" panose="020F0502020204030203" pitchFamily="34" charset="0"/>
            </a:rPr>
            <a:t>Implementasi</a:t>
          </a:r>
          <a:endParaRPr lang="en-US" sz="1600" u="none" strike="noStrike" dirty="0">
            <a:latin typeface="Lato" panose="020F0502020204030203" pitchFamily="34" charset="0"/>
          </a:endParaRPr>
        </a:p>
      </dgm:t>
    </dgm:pt>
    <dgm:pt modelId="{15A963C2-A1B3-492B-A095-973797878E6E}" type="parTrans" cxnId="{578A3B96-4A1F-4A04-98EB-DFD97A0B7764}">
      <dgm:prSet/>
      <dgm:spPr/>
      <dgm:t>
        <a:bodyPr/>
        <a:lstStyle/>
        <a:p>
          <a:endParaRPr lang="en-US"/>
        </a:p>
      </dgm:t>
    </dgm:pt>
    <dgm:pt modelId="{FF358F1B-582D-458F-A2CC-994803B29AB1}" type="sibTrans" cxnId="{578A3B96-4A1F-4A04-98EB-DFD97A0B7764}">
      <dgm:prSet/>
      <dgm:spPr/>
      <dgm:t>
        <a:bodyPr/>
        <a:lstStyle/>
        <a:p>
          <a:endParaRPr lang="en-US"/>
        </a:p>
      </dgm:t>
    </dgm:pt>
    <dgm:pt modelId="{FF088C29-0916-40A3-A086-E99BAAA543AD}" type="pres">
      <dgm:prSet presAssocID="{A5704AD5-4FB0-4834-A6CF-F7F8218BD787}" presName="linear" presStyleCnt="0">
        <dgm:presLayoutVars>
          <dgm:dir/>
          <dgm:animLvl val="lvl"/>
          <dgm:resizeHandles val="exact"/>
        </dgm:presLayoutVars>
      </dgm:prSet>
      <dgm:spPr/>
    </dgm:pt>
    <dgm:pt modelId="{31899C4E-A194-41C5-B298-7D55928B58B2}" type="pres">
      <dgm:prSet presAssocID="{CD6A01B4-68EF-4680-ACC4-20D72520E19C}" presName="parentLin" presStyleCnt="0"/>
      <dgm:spPr/>
    </dgm:pt>
    <dgm:pt modelId="{2DFA31DD-13EE-4FFD-9860-DD534AC2FBE3}" type="pres">
      <dgm:prSet presAssocID="{CD6A01B4-68EF-4680-ACC4-20D72520E19C}" presName="parentLeftMargin" presStyleLbl="node1" presStyleIdx="0" presStyleCnt="4"/>
      <dgm:spPr/>
    </dgm:pt>
    <dgm:pt modelId="{3E09F4B5-292B-49B0-917C-6822577511C9}" type="pres">
      <dgm:prSet presAssocID="{CD6A01B4-68EF-4680-ACC4-20D72520E1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E2B056-F7DA-4FDC-BB78-9092D9F9A73E}" type="pres">
      <dgm:prSet presAssocID="{CD6A01B4-68EF-4680-ACC4-20D72520E19C}" presName="negativeSpace" presStyleCnt="0"/>
      <dgm:spPr/>
    </dgm:pt>
    <dgm:pt modelId="{226552D3-B27B-42EF-B814-46DBEF478EA6}" type="pres">
      <dgm:prSet presAssocID="{CD6A01B4-68EF-4680-ACC4-20D72520E19C}" presName="childText" presStyleLbl="conFgAcc1" presStyleIdx="0" presStyleCnt="4">
        <dgm:presLayoutVars>
          <dgm:bulletEnabled val="1"/>
        </dgm:presLayoutVars>
      </dgm:prSet>
      <dgm:spPr/>
    </dgm:pt>
    <dgm:pt modelId="{B91AEE0D-EBBC-4406-A735-2EA174390C4F}" type="pres">
      <dgm:prSet presAssocID="{9E223C68-6996-4359-84EC-D39D978C1F0E}" presName="spaceBetweenRectangles" presStyleCnt="0"/>
      <dgm:spPr/>
    </dgm:pt>
    <dgm:pt modelId="{9D9A70E5-45D5-4629-88B8-22FB6FABAD97}" type="pres">
      <dgm:prSet presAssocID="{E43E3B3B-FB08-4E28-AF90-CD1CECAA68AE}" presName="parentLin" presStyleCnt="0"/>
      <dgm:spPr/>
    </dgm:pt>
    <dgm:pt modelId="{6B373D37-A91D-4F8E-B758-0EC53159A048}" type="pres">
      <dgm:prSet presAssocID="{E43E3B3B-FB08-4E28-AF90-CD1CECAA68AE}" presName="parentLeftMargin" presStyleLbl="node1" presStyleIdx="0" presStyleCnt="4"/>
      <dgm:spPr/>
    </dgm:pt>
    <dgm:pt modelId="{67B0482E-37E4-4356-8A69-B14CE8CFB188}" type="pres">
      <dgm:prSet presAssocID="{E43E3B3B-FB08-4E28-AF90-CD1CECAA68AE}" presName="parentText" presStyleLbl="node1" presStyleIdx="1" presStyleCnt="4" custScaleX="137063">
        <dgm:presLayoutVars>
          <dgm:chMax val="0"/>
          <dgm:bulletEnabled val="1"/>
        </dgm:presLayoutVars>
      </dgm:prSet>
      <dgm:spPr/>
    </dgm:pt>
    <dgm:pt modelId="{3C805373-34E3-4F93-BB58-73BA39DDB3D6}" type="pres">
      <dgm:prSet presAssocID="{E43E3B3B-FB08-4E28-AF90-CD1CECAA68AE}" presName="negativeSpace" presStyleCnt="0"/>
      <dgm:spPr/>
    </dgm:pt>
    <dgm:pt modelId="{D0267F25-DA13-45F8-9A29-D01A00F92D6E}" type="pres">
      <dgm:prSet presAssocID="{E43E3B3B-FB08-4E28-AF90-CD1CECAA68AE}" presName="childText" presStyleLbl="conFgAcc1" presStyleIdx="1" presStyleCnt="4">
        <dgm:presLayoutVars>
          <dgm:bulletEnabled val="1"/>
        </dgm:presLayoutVars>
      </dgm:prSet>
      <dgm:spPr/>
    </dgm:pt>
    <dgm:pt modelId="{C8F658BF-C441-4734-9B9A-8AF255A4719B}" type="pres">
      <dgm:prSet presAssocID="{09125FBB-92AB-46D0-8E0D-EEBEE35FBBAF}" presName="spaceBetweenRectangles" presStyleCnt="0"/>
      <dgm:spPr/>
    </dgm:pt>
    <dgm:pt modelId="{2C57B4AA-7D58-4248-992C-9AFAF2BFAE94}" type="pres">
      <dgm:prSet presAssocID="{A4D54192-C637-43ED-A2C7-A0F1F9282E2A}" presName="parentLin" presStyleCnt="0"/>
      <dgm:spPr/>
    </dgm:pt>
    <dgm:pt modelId="{DF341CD8-B099-488E-9F2C-E71541E50826}" type="pres">
      <dgm:prSet presAssocID="{A4D54192-C637-43ED-A2C7-A0F1F9282E2A}" presName="parentLeftMargin" presStyleLbl="node1" presStyleIdx="1" presStyleCnt="4"/>
      <dgm:spPr/>
    </dgm:pt>
    <dgm:pt modelId="{7831C3E9-00CA-4502-824B-9D5701FF79A8}" type="pres">
      <dgm:prSet presAssocID="{A4D54192-C637-43ED-A2C7-A0F1F9282E2A}" presName="parentText" presStyleLbl="node1" presStyleIdx="2" presStyleCnt="4" custScaleX="137994">
        <dgm:presLayoutVars>
          <dgm:chMax val="0"/>
          <dgm:bulletEnabled val="1"/>
        </dgm:presLayoutVars>
      </dgm:prSet>
      <dgm:spPr/>
    </dgm:pt>
    <dgm:pt modelId="{65704E93-B452-4F48-924D-57EF8CF33E71}" type="pres">
      <dgm:prSet presAssocID="{A4D54192-C637-43ED-A2C7-A0F1F9282E2A}" presName="negativeSpace" presStyleCnt="0"/>
      <dgm:spPr/>
    </dgm:pt>
    <dgm:pt modelId="{B20E7740-E4BE-4344-BE67-FAB706514134}" type="pres">
      <dgm:prSet presAssocID="{A4D54192-C637-43ED-A2C7-A0F1F9282E2A}" presName="childText" presStyleLbl="conFgAcc1" presStyleIdx="2" presStyleCnt="4">
        <dgm:presLayoutVars>
          <dgm:bulletEnabled val="1"/>
        </dgm:presLayoutVars>
      </dgm:prSet>
      <dgm:spPr/>
    </dgm:pt>
    <dgm:pt modelId="{E25F90F0-2330-4F0B-94DA-2AFD6CF2FCB6}" type="pres">
      <dgm:prSet presAssocID="{684FA216-273C-470D-B02D-1882DAC8F438}" presName="spaceBetweenRectangles" presStyleCnt="0"/>
      <dgm:spPr/>
    </dgm:pt>
    <dgm:pt modelId="{9C99A144-39D5-4759-8251-BE601294BD98}" type="pres">
      <dgm:prSet presAssocID="{21DC1F2C-5A38-4725-A1D2-46255C4DCFFF}" presName="parentLin" presStyleCnt="0"/>
      <dgm:spPr/>
    </dgm:pt>
    <dgm:pt modelId="{231B4129-1CCA-411E-BEFC-AA177284C418}" type="pres">
      <dgm:prSet presAssocID="{21DC1F2C-5A38-4725-A1D2-46255C4DCFFF}" presName="parentLeftMargin" presStyleLbl="node1" presStyleIdx="2" presStyleCnt="4"/>
      <dgm:spPr/>
    </dgm:pt>
    <dgm:pt modelId="{7FDFFA19-FA93-4196-9A6A-250C272263E8}" type="pres">
      <dgm:prSet presAssocID="{21DC1F2C-5A38-4725-A1D2-46255C4DCFF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CEE5F7E-CE7B-4F6A-802B-136FD43A2C91}" type="pres">
      <dgm:prSet presAssocID="{21DC1F2C-5A38-4725-A1D2-46255C4DCFFF}" presName="negativeSpace" presStyleCnt="0"/>
      <dgm:spPr/>
    </dgm:pt>
    <dgm:pt modelId="{3EF3FFAB-C310-4C41-8AEF-2A3D4262E9A4}" type="pres">
      <dgm:prSet presAssocID="{21DC1F2C-5A38-4725-A1D2-46255C4DCFF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62D9705-13C3-4C8F-B690-F50BC05F0FAD}" type="presOf" srcId="{E43E3B3B-FB08-4E28-AF90-CD1CECAA68AE}" destId="{6B373D37-A91D-4F8E-B758-0EC53159A048}" srcOrd="0" destOrd="0" presId="urn:microsoft.com/office/officeart/2005/8/layout/list1"/>
    <dgm:cxn modelId="{AED08D0F-15D2-46AD-984C-DED8E5FC6D2C}" type="presOf" srcId="{21DC1F2C-5A38-4725-A1D2-46255C4DCFFF}" destId="{231B4129-1CCA-411E-BEFC-AA177284C418}" srcOrd="0" destOrd="0" presId="urn:microsoft.com/office/officeart/2005/8/layout/list1"/>
    <dgm:cxn modelId="{D402292D-CB5C-4DE8-8B7D-F1FD4525BDF7}" type="presOf" srcId="{E43E3B3B-FB08-4E28-AF90-CD1CECAA68AE}" destId="{67B0482E-37E4-4356-8A69-B14CE8CFB188}" srcOrd="1" destOrd="0" presId="urn:microsoft.com/office/officeart/2005/8/layout/list1"/>
    <dgm:cxn modelId="{54D1D360-8652-481A-BA33-52D8B98D9951}" type="presOf" srcId="{CD6A01B4-68EF-4680-ACC4-20D72520E19C}" destId="{3E09F4B5-292B-49B0-917C-6822577511C9}" srcOrd="1" destOrd="0" presId="urn:microsoft.com/office/officeart/2005/8/layout/list1"/>
    <dgm:cxn modelId="{1A5AD477-693B-40E1-8BB0-CBE0B8A37722}" srcId="{A5704AD5-4FB0-4834-A6CF-F7F8218BD787}" destId="{CD6A01B4-68EF-4680-ACC4-20D72520E19C}" srcOrd="0" destOrd="0" parTransId="{0269F271-1454-4784-B1E2-6D3B19651413}" sibTransId="{9E223C68-6996-4359-84EC-D39D978C1F0E}"/>
    <dgm:cxn modelId="{21A92A7A-835E-47C8-919F-73A6054D77A7}" type="presOf" srcId="{A4D54192-C637-43ED-A2C7-A0F1F9282E2A}" destId="{DF341CD8-B099-488E-9F2C-E71541E50826}" srcOrd="0" destOrd="0" presId="urn:microsoft.com/office/officeart/2005/8/layout/list1"/>
    <dgm:cxn modelId="{578A3B96-4A1F-4A04-98EB-DFD97A0B7764}" srcId="{A5704AD5-4FB0-4834-A6CF-F7F8218BD787}" destId="{21DC1F2C-5A38-4725-A1D2-46255C4DCFFF}" srcOrd="3" destOrd="0" parTransId="{15A963C2-A1B3-492B-A095-973797878E6E}" sibTransId="{FF358F1B-582D-458F-A2CC-994803B29AB1}"/>
    <dgm:cxn modelId="{2032F4AF-5E8F-457F-98F8-27F660B47679}" srcId="{A5704AD5-4FB0-4834-A6CF-F7F8218BD787}" destId="{E43E3B3B-FB08-4E28-AF90-CD1CECAA68AE}" srcOrd="1" destOrd="0" parTransId="{481CE8E7-7AE6-4F2F-BFBA-DECE3FF300C5}" sibTransId="{09125FBB-92AB-46D0-8E0D-EEBEE35FBBAF}"/>
    <dgm:cxn modelId="{79144CB6-4F2E-478C-BC86-8167FC38DCB3}" type="presOf" srcId="{A4D54192-C637-43ED-A2C7-A0F1F9282E2A}" destId="{7831C3E9-00CA-4502-824B-9D5701FF79A8}" srcOrd="1" destOrd="0" presId="urn:microsoft.com/office/officeart/2005/8/layout/list1"/>
    <dgm:cxn modelId="{E237DDB7-6ADD-4480-8777-1A25ACA29264}" type="presOf" srcId="{A5704AD5-4FB0-4834-A6CF-F7F8218BD787}" destId="{FF088C29-0916-40A3-A086-E99BAAA543AD}" srcOrd="0" destOrd="0" presId="urn:microsoft.com/office/officeart/2005/8/layout/list1"/>
    <dgm:cxn modelId="{77C0E7CD-C37A-4EAF-8CAB-FB15C64B2408}" srcId="{A5704AD5-4FB0-4834-A6CF-F7F8218BD787}" destId="{A4D54192-C637-43ED-A2C7-A0F1F9282E2A}" srcOrd="2" destOrd="0" parTransId="{5B57FBC3-2987-482D-A766-27A7982DCA4A}" sibTransId="{684FA216-273C-470D-B02D-1882DAC8F438}"/>
    <dgm:cxn modelId="{B1D581E3-D336-4D04-B48A-C89F7EB1DE25}" type="presOf" srcId="{CD6A01B4-68EF-4680-ACC4-20D72520E19C}" destId="{2DFA31DD-13EE-4FFD-9860-DD534AC2FBE3}" srcOrd="0" destOrd="0" presId="urn:microsoft.com/office/officeart/2005/8/layout/list1"/>
    <dgm:cxn modelId="{39EE4DE6-9245-4E13-A9F7-41A22A3C16EC}" type="presOf" srcId="{21DC1F2C-5A38-4725-A1D2-46255C4DCFFF}" destId="{7FDFFA19-FA93-4196-9A6A-250C272263E8}" srcOrd="1" destOrd="0" presId="urn:microsoft.com/office/officeart/2005/8/layout/list1"/>
    <dgm:cxn modelId="{D057B1A5-CF27-489A-B98E-B63E69BF3765}" type="presParOf" srcId="{FF088C29-0916-40A3-A086-E99BAAA543AD}" destId="{31899C4E-A194-41C5-B298-7D55928B58B2}" srcOrd="0" destOrd="0" presId="urn:microsoft.com/office/officeart/2005/8/layout/list1"/>
    <dgm:cxn modelId="{A6A0827D-0F82-4B79-BB2F-F46375B557A7}" type="presParOf" srcId="{31899C4E-A194-41C5-B298-7D55928B58B2}" destId="{2DFA31DD-13EE-4FFD-9860-DD534AC2FBE3}" srcOrd="0" destOrd="0" presId="urn:microsoft.com/office/officeart/2005/8/layout/list1"/>
    <dgm:cxn modelId="{AFFC3892-E59E-4D6F-A38C-25F6C349D4A2}" type="presParOf" srcId="{31899C4E-A194-41C5-B298-7D55928B58B2}" destId="{3E09F4B5-292B-49B0-917C-6822577511C9}" srcOrd="1" destOrd="0" presId="urn:microsoft.com/office/officeart/2005/8/layout/list1"/>
    <dgm:cxn modelId="{8E962ABF-E2C0-441E-B7CD-163D8BF09F50}" type="presParOf" srcId="{FF088C29-0916-40A3-A086-E99BAAA543AD}" destId="{1BE2B056-F7DA-4FDC-BB78-9092D9F9A73E}" srcOrd="1" destOrd="0" presId="urn:microsoft.com/office/officeart/2005/8/layout/list1"/>
    <dgm:cxn modelId="{7ABBDCC5-832F-40AA-9162-A147745195AC}" type="presParOf" srcId="{FF088C29-0916-40A3-A086-E99BAAA543AD}" destId="{226552D3-B27B-42EF-B814-46DBEF478EA6}" srcOrd="2" destOrd="0" presId="urn:microsoft.com/office/officeart/2005/8/layout/list1"/>
    <dgm:cxn modelId="{BE118C2A-76D5-4332-8470-A7C582C9AEDB}" type="presParOf" srcId="{FF088C29-0916-40A3-A086-E99BAAA543AD}" destId="{B91AEE0D-EBBC-4406-A735-2EA174390C4F}" srcOrd="3" destOrd="0" presId="urn:microsoft.com/office/officeart/2005/8/layout/list1"/>
    <dgm:cxn modelId="{7A5DA42A-BE5C-429F-A4A0-DAE2F9020294}" type="presParOf" srcId="{FF088C29-0916-40A3-A086-E99BAAA543AD}" destId="{9D9A70E5-45D5-4629-88B8-22FB6FABAD97}" srcOrd="4" destOrd="0" presId="urn:microsoft.com/office/officeart/2005/8/layout/list1"/>
    <dgm:cxn modelId="{6A22157F-CE03-4B7B-AFC3-43293079398A}" type="presParOf" srcId="{9D9A70E5-45D5-4629-88B8-22FB6FABAD97}" destId="{6B373D37-A91D-4F8E-B758-0EC53159A048}" srcOrd="0" destOrd="0" presId="urn:microsoft.com/office/officeart/2005/8/layout/list1"/>
    <dgm:cxn modelId="{6B5BF1D0-1C30-48EE-A6D8-23DFF485DC86}" type="presParOf" srcId="{9D9A70E5-45D5-4629-88B8-22FB6FABAD97}" destId="{67B0482E-37E4-4356-8A69-B14CE8CFB188}" srcOrd="1" destOrd="0" presId="urn:microsoft.com/office/officeart/2005/8/layout/list1"/>
    <dgm:cxn modelId="{35038E0F-025C-4E23-918F-2D474C7A1D68}" type="presParOf" srcId="{FF088C29-0916-40A3-A086-E99BAAA543AD}" destId="{3C805373-34E3-4F93-BB58-73BA39DDB3D6}" srcOrd="5" destOrd="0" presId="urn:microsoft.com/office/officeart/2005/8/layout/list1"/>
    <dgm:cxn modelId="{4A760E99-D66E-42A3-8B46-F2ED98FB2496}" type="presParOf" srcId="{FF088C29-0916-40A3-A086-E99BAAA543AD}" destId="{D0267F25-DA13-45F8-9A29-D01A00F92D6E}" srcOrd="6" destOrd="0" presId="urn:microsoft.com/office/officeart/2005/8/layout/list1"/>
    <dgm:cxn modelId="{60B36611-C4FF-4EE6-A83F-BE8BC8EAB745}" type="presParOf" srcId="{FF088C29-0916-40A3-A086-E99BAAA543AD}" destId="{C8F658BF-C441-4734-9B9A-8AF255A4719B}" srcOrd="7" destOrd="0" presId="urn:microsoft.com/office/officeart/2005/8/layout/list1"/>
    <dgm:cxn modelId="{9466F2F4-E276-455A-8624-4790B3885478}" type="presParOf" srcId="{FF088C29-0916-40A3-A086-E99BAAA543AD}" destId="{2C57B4AA-7D58-4248-992C-9AFAF2BFAE94}" srcOrd="8" destOrd="0" presId="urn:microsoft.com/office/officeart/2005/8/layout/list1"/>
    <dgm:cxn modelId="{F0D86D3B-5D2B-4A3C-B229-C93ABBD5284B}" type="presParOf" srcId="{2C57B4AA-7D58-4248-992C-9AFAF2BFAE94}" destId="{DF341CD8-B099-488E-9F2C-E71541E50826}" srcOrd="0" destOrd="0" presId="urn:microsoft.com/office/officeart/2005/8/layout/list1"/>
    <dgm:cxn modelId="{CD70C602-A933-410D-B672-802B7AC96466}" type="presParOf" srcId="{2C57B4AA-7D58-4248-992C-9AFAF2BFAE94}" destId="{7831C3E9-00CA-4502-824B-9D5701FF79A8}" srcOrd="1" destOrd="0" presId="urn:microsoft.com/office/officeart/2005/8/layout/list1"/>
    <dgm:cxn modelId="{8B2A63BD-F62C-43B0-AF51-37C715BD2495}" type="presParOf" srcId="{FF088C29-0916-40A3-A086-E99BAAA543AD}" destId="{65704E93-B452-4F48-924D-57EF8CF33E71}" srcOrd="9" destOrd="0" presId="urn:microsoft.com/office/officeart/2005/8/layout/list1"/>
    <dgm:cxn modelId="{626CC604-D74E-40EA-8463-6E904B22BBCE}" type="presParOf" srcId="{FF088C29-0916-40A3-A086-E99BAAA543AD}" destId="{B20E7740-E4BE-4344-BE67-FAB706514134}" srcOrd="10" destOrd="0" presId="urn:microsoft.com/office/officeart/2005/8/layout/list1"/>
    <dgm:cxn modelId="{B081A90B-7EDD-41DF-98DD-D387AC5C43D8}" type="presParOf" srcId="{FF088C29-0916-40A3-A086-E99BAAA543AD}" destId="{E25F90F0-2330-4F0B-94DA-2AFD6CF2FCB6}" srcOrd="11" destOrd="0" presId="urn:microsoft.com/office/officeart/2005/8/layout/list1"/>
    <dgm:cxn modelId="{61D91A85-9920-449B-9BA6-1FE22EA858B6}" type="presParOf" srcId="{FF088C29-0916-40A3-A086-E99BAAA543AD}" destId="{9C99A144-39D5-4759-8251-BE601294BD98}" srcOrd="12" destOrd="0" presId="urn:microsoft.com/office/officeart/2005/8/layout/list1"/>
    <dgm:cxn modelId="{A4D7EAB3-E77D-4A1F-B64C-30A6C25AAC1C}" type="presParOf" srcId="{9C99A144-39D5-4759-8251-BE601294BD98}" destId="{231B4129-1CCA-411E-BEFC-AA177284C418}" srcOrd="0" destOrd="0" presId="urn:microsoft.com/office/officeart/2005/8/layout/list1"/>
    <dgm:cxn modelId="{8A2F8C0F-64AD-4FF5-BA42-189926E2A64D}" type="presParOf" srcId="{9C99A144-39D5-4759-8251-BE601294BD98}" destId="{7FDFFA19-FA93-4196-9A6A-250C272263E8}" srcOrd="1" destOrd="0" presId="urn:microsoft.com/office/officeart/2005/8/layout/list1"/>
    <dgm:cxn modelId="{BE8A185F-E515-4D32-9040-A3C36F232978}" type="presParOf" srcId="{FF088C29-0916-40A3-A086-E99BAAA543AD}" destId="{ECEE5F7E-CE7B-4F6A-802B-136FD43A2C91}" srcOrd="13" destOrd="0" presId="urn:microsoft.com/office/officeart/2005/8/layout/list1"/>
    <dgm:cxn modelId="{0F19A528-4706-492D-97B2-F443802A39B8}" type="presParOf" srcId="{FF088C29-0916-40A3-A086-E99BAAA543AD}" destId="{3EF3FFAB-C310-4C41-8AEF-2A3D4262E9A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9D301-9A15-41C4-9B95-986E377AA032}">
      <dsp:nvSpPr>
        <dsp:cNvPr id="0" name=""/>
        <dsp:cNvSpPr/>
      </dsp:nvSpPr>
      <dsp:spPr>
        <a:xfrm>
          <a:off x="-3447097" y="-529997"/>
          <a:ext cx="4109979" cy="4109979"/>
        </a:xfrm>
        <a:prstGeom prst="blockArc">
          <a:avLst>
            <a:gd name="adj1" fmla="val 18900000"/>
            <a:gd name="adj2" fmla="val 2700000"/>
            <a:gd name="adj3" fmla="val 526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60424-BE96-4188-9937-A59B76BD681F}">
      <dsp:nvSpPr>
        <dsp:cNvPr id="0" name=""/>
        <dsp:cNvSpPr/>
      </dsp:nvSpPr>
      <dsp:spPr>
        <a:xfrm>
          <a:off x="290837" y="190563"/>
          <a:ext cx="3509648" cy="3813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2713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1" kern="1200" dirty="0"/>
            <a:t>Finiteness (</a:t>
          </a:r>
          <a:r>
            <a:rPr lang="en-US" sz="2000" b="0" i="1" kern="1200" dirty="0" err="1"/>
            <a:t>Keterbatasan</a:t>
          </a:r>
          <a:r>
            <a:rPr lang="en-US" sz="2000" b="0" i="1" kern="1200" dirty="0"/>
            <a:t>)</a:t>
          </a:r>
          <a:endParaRPr lang="en-US" sz="2000" kern="1200" dirty="0"/>
        </a:p>
      </dsp:txBody>
      <dsp:txXfrm>
        <a:off x="290837" y="190563"/>
        <a:ext cx="3509648" cy="381370"/>
      </dsp:txXfrm>
    </dsp:sp>
    <dsp:sp modelId="{2AAE9CA1-8855-406C-90F6-C06EDD299C84}">
      <dsp:nvSpPr>
        <dsp:cNvPr id="0" name=""/>
        <dsp:cNvSpPr/>
      </dsp:nvSpPr>
      <dsp:spPr>
        <a:xfrm>
          <a:off x="52480" y="142891"/>
          <a:ext cx="476712" cy="476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7DC93-A645-4F0C-8242-71D5038DE6B0}">
      <dsp:nvSpPr>
        <dsp:cNvPr id="0" name=""/>
        <dsp:cNvSpPr/>
      </dsp:nvSpPr>
      <dsp:spPr>
        <a:xfrm>
          <a:off x="564115" y="762435"/>
          <a:ext cx="3236369" cy="381370"/>
        </a:xfrm>
        <a:prstGeom prst="rect">
          <a:avLst/>
        </a:prstGeom>
        <a:solidFill>
          <a:schemeClr val="accent4">
            <a:hueOff val="-594301"/>
            <a:satOff val="10890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2713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1" kern="1200" dirty="0"/>
            <a:t>Definiteness (</a:t>
          </a:r>
          <a:r>
            <a:rPr lang="en-US" sz="2000" b="0" i="1" kern="1200" dirty="0" err="1"/>
            <a:t>Kepastian</a:t>
          </a:r>
          <a:r>
            <a:rPr lang="en-US" sz="2000" b="0" i="1" kern="1200" dirty="0"/>
            <a:t>)</a:t>
          </a:r>
          <a:endParaRPr lang="en-US" sz="2000" kern="1200" dirty="0"/>
        </a:p>
      </dsp:txBody>
      <dsp:txXfrm>
        <a:off x="564115" y="762435"/>
        <a:ext cx="3236369" cy="381370"/>
      </dsp:txXfrm>
    </dsp:sp>
    <dsp:sp modelId="{E4724096-1F30-4E3D-ADBF-059E673B033E}">
      <dsp:nvSpPr>
        <dsp:cNvPr id="0" name=""/>
        <dsp:cNvSpPr/>
      </dsp:nvSpPr>
      <dsp:spPr>
        <a:xfrm>
          <a:off x="325759" y="714763"/>
          <a:ext cx="476712" cy="476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594301"/>
              <a:satOff val="10890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D7852-5CF4-4FE6-8EF7-0E1FA203E688}">
      <dsp:nvSpPr>
        <dsp:cNvPr id="0" name=""/>
        <dsp:cNvSpPr/>
      </dsp:nvSpPr>
      <dsp:spPr>
        <a:xfrm>
          <a:off x="647990" y="1334307"/>
          <a:ext cx="3152495" cy="381370"/>
        </a:xfrm>
        <a:prstGeom prst="rect">
          <a:avLst/>
        </a:prstGeom>
        <a:solidFill>
          <a:schemeClr val="accent4">
            <a:hueOff val="-1188603"/>
            <a:satOff val="21780"/>
            <a:lumOff val="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2713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Memiliki</a:t>
          </a:r>
          <a:r>
            <a:rPr lang="en-US" sz="2000" kern="1200" dirty="0"/>
            <a:t> Input</a:t>
          </a:r>
        </a:p>
      </dsp:txBody>
      <dsp:txXfrm>
        <a:off x="647990" y="1334307"/>
        <a:ext cx="3152495" cy="381370"/>
      </dsp:txXfrm>
    </dsp:sp>
    <dsp:sp modelId="{050E05F7-A469-44B6-ACF7-804DD710598E}">
      <dsp:nvSpPr>
        <dsp:cNvPr id="0" name=""/>
        <dsp:cNvSpPr/>
      </dsp:nvSpPr>
      <dsp:spPr>
        <a:xfrm>
          <a:off x="409634" y="1286636"/>
          <a:ext cx="476712" cy="476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188603"/>
              <a:satOff val="21780"/>
              <a:lumOff val="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2BEB0-F098-461B-81FB-AD3E6679A81A}">
      <dsp:nvSpPr>
        <dsp:cNvPr id="0" name=""/>
        <dsp:cNvSpPr/>
      </dsp:nvSpPr>
      <dsp:spPr>
        <a:xfrm>
          <a:off x="564115" y="1906179"/>
          <a:ext cx="3236369" cy="381370"/>
        </a:xfrm>
        <a:prstGeom prst="rect">
          <a:avLst/>
        </a:prstGeom>
        <a:solidFill>
          <a:schemeClr val="accent4">
            <a:hueOff val="-1782904"/>
            <a:satOff val="32670"/>
            <a:lumOff val="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2713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Menghasilkan</a:t>
          </a:r>
          <a:r>
            <a:rPr lang="en-US" sz="2000" kern="1200" dirty="0"/>
            <a:t> Output</a:t>
          </a:r>
        </a:p>
      </dsp:txBody>
      <dsp:txXfrm>
        <a:off x="564115" y="1906179"/>
        <a:ext cx="3236369" cy="381370"/>
      </dsp:txXfrm>
    </dsp:sp>
    <dsp:sp modelId="{8DD61D73-52C0-4775-8A52-AE24C367AC2B}">
      <dsp:nvSpPr>
        <dsp:cNvPr id="0" name=""/>
        <dsp:cNvSpPr/>
      </dsp:nvSpPr>
      <dsp:spPr>
        <a:xfrm>
          <a:off x="325759" y="1858508"/>
          <a:ext cx="476712" cy="476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782904"/>
              <a:satOff val="32670"/>
              <a:lumOff val="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8AE24-D545-4824-84D5-828644A56E50}">
      <dsp:nvSpPr>
        <dsp:cNvPr id="0" name=""/>
        <dsp:cNvSpPr/>
      </dsp:nvSpPr>
      <dsp:spPr>
        <a:xfrm>
          <a:off x="290837" y="2478051"/>
          <a:ext cx="3509648" cy="381370"/>
        </a:xfrm>
        <a:prstGeom prst="rect">
          <a:avLst/>
        </a:prstGeom>
        <a:solidFill>
          <a:schemeClr val="accent4">
            <a:hueOff val="-2377205"/>
            <a:satOff val="43560"/>
            <a:lumOff val="5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2713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Effectiveness (</a:t>
          </a:r>
          <a:r>
            <a:rPr lang="en-US" sz="2000" kern="1200" dirty="0" err="1"/>
            <a:t>Efektivtias</a:t>
          </a:r>
          <a:r>
            <a:rPr lang="en-US" sz="2000" kern="1200" dirty="0"/>
            <a:t>)</a:t>
          </a:r>
        </a:p>
      </dsp:txBody>
      <dsp:txXfrm>
        <a:off x="290837" y="2478051"/>
        <a:ext cx="3509648" cy="381370"/>
      </dsp:txXfrm>
    </dsp:sp>
    <dsp:sp modelId="{7F007BD4-AF50-4F8D-89D4-5DC2AEE5F4D6}">
      <dsp:nvSpPr>
        <dsp:cNvPr id="0" name=""/>
        <dsp:cNvSpPr/>
      </dsp:nvSpPr>
      <dsp:spPr>
        <a:xfrm>
          <a:off x="52480" y="2430380"/>
          <a:ext cx="476712" cy="4767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377205"/>
              <a:satOff val="43560"/>
              <a:lumOff val="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552D3-B27B-42EF-B814-46DBEF478EA6}">
      <dsp:nvSpPr>
        <dsp:cNvPr id="0" name=""/>
        <dsp:cNvSpPr/>
      </dsp:nvSpPr>
      <dsp:spPr>
        <a:xfrm>
          <a:off x="0" y="247731"/>
          <a:ext cx="45988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9F4B5-292B-49B0-917C-6822577511C9}">
      <dsp:nvSpPr>
        <dsp:cNvPr id="0" name=""/>
        <dsp:cNvSpPr/>
      </dsp:nvSpPr>
      <dsp:spPr>
        <a:xfrm>
          <a:off x="229944" y="26331"/>
          <a:ext cx="3219225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679" tIns="0" rIns="12167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Definisikan</a:t>
          </a:r>
          <a:r>
            <a:rPr lang="en-US" sz="1600" i="0" u="none" strike="noStrike" kern="1200" dirty="0">
              <a:effectLst/>
              <a:latin typeface="Lato" panose="020F0502020204030203" pitchFamily="34" charset="0"/>
            </a:rPr>
            <a:t> </a:t>
          </a: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Masalah</a:t>
          </a:r>
          <a:r>
            <a:rPr lang="en-US" sz="1600" i="0" u="none" strike="noStrike" kern="1200" dirty="0">
              <a:effectLst/>
              <a:latin typeface="Lato" panose="020F0502020204030203" pitchFamily="34" charset="0"/>
            </a:rPr>
            <a:t> yang </a:t>
          </a: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ada</a:t>
          </a:r>
          <a:endParaRPr lang="en-US" sz="1600" kern="1200" dirty="0"/>
        </a:p>
      </dsp:txBody>
      <dsp:txXfrm>
        <a:off x="251560" y="47947"/>
        <a:ext cx="3175993" cy="399568"/>
      </dsp:txXfrm>
    </dsp:sp>
    <dsp:sp modelId="{D0267F25-DA13-45F8-9A29-D01A00F92D6E}">
      <dsp:nvSpPr>
        <dsp:cNvPr id="0" name=""/>
        <dsp:cNvSpPr/>
      </dsp:nvSpPr>
      <dsp:spPr>
        <a:xfrm>
          <a:off x="0" y="928131"/>
          <a:ext cx="45988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425792"/>
              <a:satOff val="1170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0482E-37E4-4356-8A69-B14CE8CFB188}">
      <dsp:nvSpPr>
        <dsp:cNvPr id="0" name=""/>
        <dsp:cNvSpPr/>
      </dsp:nvSpPr>
      <dsp:spPr>
        <a:xfrm>
          <a:off x="227699" y="706731"/>
          <a:ext cx="4369277" cy="442800"/>
        </a:xfrm>
        <a:prstGeom prst="roundRect">
          <a:avLst/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679" tIns="0" rIns="12167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Membuat</a:t>
          </a:r>
          <a:r>
            <a:rPr lang="en-US" sz="1600" i="0" u="none" strike="noStrike" kern="1200" dirty="0">
              <a:effectLst/>
              <a:latin typeface="Lato" panose="020F0502020204030203" pitchFamily="34" charset="0"/>
            </a:rPr>
            <a:t> Solusi </a:t>
          </a:r>
          <a:r>
            <a:rPr lang="en-US" sz="1600" kern="1200" dirty="0"/>
            <a:t>yang </a:t>
          </a:r>
          <a:r>
            <a:rPr lang="en-US" sz="1600" kern="1200" dirty="0" err="1"/>
            <a:t>mungkin</a:t>
          </a:r>
          <a:r>
            <a:rPr lang="en-US" sz="1600" kern="1200" dirty="0"/>
            <a:t> </a:t>
          </a:r>
          <a:r>
            <a:rPr lang="en-US" sz="1600" kern="1200" dirty="0" err="1"/>
            <a:t>dilakukan</a:t>
          </a:r>
          <a:endParaRPr lang="en-US" sz="1600" i="0" kern="1200" dirty="0">
            <a:effectLst/>
            <a:latin typeface="Lato" panose="020F0502020204030203" pitchFamily="34" charset="0"/>
          </a:endParaRPr>
        </a:p>
      </dsp:txBody>
      <dsp:txXfrm>
        <a:off x="249315" y="728347"/>
        <a:ext cx="4326045" cy="399568"/>
      </dsp:txXfrm>
    </dsp:sp>
    <dsp:sp modelId="{B20E7740-E4BE-4344-BE67-FAB706514134}">
      <dsp:nvSpPr>
        <dsp:cNvPr id="0" name=""/>
        <dsp:cNvSpPr/>
      </dsp:nvSpPr>
      <dsp:spPr>
        <a:xfrm>
          <a:off x="0" y="1608531"/>
          <a:ext cx="45988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851583"/>
              <a:satOff val="2339"/>
              <a:lumOff val="1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1C3E9-00CA-4502-824B-9D5701FF79A8}">
      <dsp:nvSpPr>
        <dsp:cNvPr id="0" name=""/>
        <dsp:cNvSpPr/>
      </dsp:nvSpPr>
      <dsp:spPr>
        <a:xfrm>
          <a:off x="226127" y="1387131"/>
          <a:ext cx="4368588" cy="442800"/>
        </a:xfrm>
        <a:prstGeom prst="roundRect">
          <a:avLst/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679" tIns="0" rIns="12167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Evaluasi</a:t>
          </a:r>
          <a:r>
            <a:rPr lang="en-US" sz="1600" i="0" u="none" strike="noStrike" kern="1200" dirty="0">
              <a:effectLst/>
              <a:latin typeface="Lato" panose="020F0502020204030203" pitchFamily="34" charset="0"/>
            </a:rPr>
            <a:t> dan </a:t>
          </a: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Memilih</a:t>
          </a:r>
          <a:r>
            <a:rPr lang="en-US" sz="1600" i="0" u="none" strike="noStrike" kern="1200" dirty="0">
              <a:effectLst/>
              <a:latin typeface="Lato" panose="020F0502020204030203" pitchFamily="34" charset="0"/>
            </a:rPr>
            <a:t> Solusi yang Paling </a:t>
          </a:r>
          <a:r>
            <a:rPr lang="en-US" sz="1600" i="0" u="none" strike="noStrike" kern="1200" dirty="0" err="1">
              <a:effectLst/>
              <a:latin typeface="Lato" panose="020F0502020204030203" pitchFamily="34" charset="0"/>
            </a:rPr>
            <a:t>Tepat</a:t>
          </a:r>
          <a:endParaRPr lang="en-US" sz="1600" i="0" kern="1200" dirty="0">
            <a:effectLst/>
            <a:latin typeface="Lato" panose="020F0502020204030203" pitchFamily="34" charset="0"/>
          </a:endParaRPr>
        </a:p>
      </dsp:txBody>
      <dsp:txXfrm>
        <a:off x="247743" y="1408747"/>
        <a:ext cx="4325356" cy="399568"/>
      </dsp:txXfrm>
    </dsp:sp>
    <dsp:sp modelId="{3EF3FFAB-C310-4C41-8AEF-2A3D4262E9A4}">
      <dsp:nvSpPr>
        <dsp:cNvPr id="0" name=""/>
        <dsp:cNvSpPr/>
      </dsp:nvSpPr>
      <dsp:spPr>
        <a:xfrm>
          <a:off x="0" y="2288931"/>
          <a:ext cx="459889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FFA19-FA93-4196-9A6A-250C272263E8}">
      <dsp:nvSpPr>
        <dsp:cNvPr id="0" name=""/>
        <dsp:cNvSpPr/>
      </dsp:nvSpPr>
      <dsp:spPr>
        <a:xfrm>
          <a:off x="229944" y="2067531"/>
          <a:ext cx="3219225" cy="44280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679" tIns="0" rIns="12167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u="none" strike="noStrike" kern="1200">
              <a:effectLst/>
              <a:latin typeface="Lato" panose="020F0502020204030203" pitchFamily="34" charset="0"/>
            </a:rPr>
            <a:t>Implementasi</a:t>
          </a:r>
          <a:endParaRPr lang="en-US" sz="1600" u="none" strike="noStrike" kern="1200" dirty="0">
            <a:latin typeface="Lato" panose="020F0502020204030203" pitchFamily="34" charset="0"/>
          </a:endParaRPr>
        </a:p>
      </dsp:txBody>
      <dsp:txXfrm>
        <a:off x="251560" y="2089147"/>
        <a:ext cx="3175993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93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8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87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63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Finiteness,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yaitu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keterbatasan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Algoritma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sebuah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akhir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, yang juga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menandakan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bahwa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langkah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dan proses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tersebut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telah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dikerjakan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maupun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terselesaikan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Definiteness,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yaitu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kepastian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Tidak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hanya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akhir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algoritma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juga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harus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definisi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yang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tepat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Kenapa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harus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tepat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? Karena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apabila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definisinya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ganda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maka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suatu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tugas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tidak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terselesaikan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dengan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logis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input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masukan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baik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itu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berjumlah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nol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lebih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Menghasilkan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output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keluaran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meskipun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jumlahnya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nol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lebih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Effectiveness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efektivitas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dalam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mengerjakan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proses dan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langkah-langkahnya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Tambahannya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ada</a:t>
            </a:r>
            <a:r>
              <a:rPr lang="en-US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pc="-4" dirty="0" err="1">
                <a:solidFill>
                  <a:srgbClr val="171616"/>
                </a:solidFill>
                <a:latin typeface="Lato"/>
                <a:cs typeface="Lato"/>
              </a:rPr>
              <a:t>Terstruktur</a:t>
            </a:r>
            <a:endParaRPr lang="en-US" dirty="0"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7082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 dan </a:t>
            </a:r>
            <a:r>
              <a:rPr lang="en-US" dirty="0" err="1"/>
              <a:t>Efisien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19958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599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84" name="Google Shape;600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Google Shape;754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891" name="Google Shape;755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Google Shape;76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923" name="Google Shape;76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752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48753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4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5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6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7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8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59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0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1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2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3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4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5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6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7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8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048769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0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1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2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3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4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5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6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7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8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79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0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1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2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3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4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5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6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7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8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89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0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1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2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3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4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5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6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7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98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048799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0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1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2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048803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4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5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6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048807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8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09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0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1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2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3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4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5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6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7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8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19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20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21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22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823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8824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8825" name="Footer Placeholder 4"/>
          <p:cNvSpPr txBox="1"/>
          <p:nvPr userDrawn="1"/>
        </p:nvSpPr>
        <p:spPr>
          <a:xfrm>
            <a:off x="-97974" y="3315015"/>
            <a:ext cx="1593074" cy="285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/>
                </a:solidFill>
              </a:rPr>
              <a:t>www.gunadarma.ac.id</a:t>
            </a:r>
            <a:endParaRPr lang="en-ID" sz="1000" dirty="0">
              <a:solidFill>
                <a:schemeClr val="bg1"/>
              </a:solidFill>
            </a:endParaRPr>
          </a:p>
        </p:txBody>
      </p:sp>
      <p:sp>
        <p:nvSpPr>
          <p:cNvPr id="1048826" name="TextBox 89"/>
          <p:cNvSpPr txBox="1"/>
          <p:nvPr userDrawn="1"/>
        </p:nvSpPr>
        <p:spPr>
          <a:xfrm>
            <a:off x="917822" y="3707756"/>
            <a:ext cx="811828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entSchbkCyrill BT" panose="02040603050705020303" pitchFamily="18" charset="-52"/>
              </a:rPr>
              <a:t>MATERI</a:t>
            </a:r>
            <a:endParaRPr lang="en-ID" sz="1800" b="1" dirty="0">
              <a:latin typeface="CentSchbkCyrill BT" panose="02040603050705020303" pitchFamily="18" charset="-52"/>
            </a:endParaRPr>
          </a:p>
        </p:txBody>
      </p:sp>
      <p:sp>
        <p:nvSpPr>
          <p:cNvPr id="1048827" name="TextBox 90"/>
          <p:cNvSpPr txBox="1"/>
          <p:nvPr userDrawn="1"/>
        </p:nvSpPr>
        <p:spPr>
          <a:xfrm>
            <a:off x="3797024" y="3740041"/>
            <a:ext cx="1032143" cy="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CentSchbkCyrill BT" panose="02040603050705020303" pitchFamily="18" charset="-52"/>
              </a:rPr>
              <a:t>FAKULTAS</a:t>
            </a:r>
            <a:endParaRPr lang="en-ID" sz="1800" b="1" dirty="0">
              <a:latin typeface="CentSchbkCyrill BT" panose="02040603050705020303" pitchFamily="18" charset="-52"/>
            </a:endParaRPr>
          </a:p>
        </p:txBody>
      </p:sp>
      <p:sp>
        <p:nvSpPr>
          <p:cNvPr id="1048828" name="Rectangle 91"/>
          <p:cNvSpPr/>
          <p:nvPr userDrawn="1"/>
        </p:nvSpPr>
        <p:spPr>
          <a:xfrm flipH="1" flipV="1">
            <a:off x="2887513" y="3819520"/>
            <a:ext cx="51486" cy="1213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048829" name="Rectangle 92"/>
          <p:cNvSpPr/>
          <p:nvPr userDrawn="1"/>
        </p:nvSpPr>
        <p:spPr>
          <a:xfrm>
            <a:off x="150659" y="4063287"/>
            <a:ext cx="2510898" cy="929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30" name="Rectangle 95"/>
          <p:cNvSpPr/>
          <p:nvPr userDrawn="1"/>
        </p:nvSpPr>
        <p:spPr>
          <a:xfrm>
            <a:off x="3226623" y="4082316"/>
            <a:ext cx="2510898" cy="929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31" name="TextBox 93"/>
          <p:cNvSpPr txBox="1"/>
          <p:nvPr userDrawn="1"/>
        </p:nvSpPr>
        <p:spPr>
          <a:xfrm>
            <a:off x="3349300" y="4296736"/>
            <a:ext cx="1986032" cy="3327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entSchbkCyrill BT" panose="02040603050705020303" pitchFamily="18" charset="-52"/>
              </a:rPr>
              <a:t>ILMU KOMUNIKASI</a:t>
            </a:r>
            <a:endParaRPr lang="en-ID" sz="2000" b="1" dirty="0">
              <a:latin typeface="CentSchbkCyrill BT" panose="02040603050705020303" pitchFamily="18" charset="-52"/>
            </a:endParaRPr>
          </a:p>
        </p:txBody>
      </p:sp>
      <p:sp>
        <p:nvSpPr>
          <p:cNvPr id="1048832" name="Rectangle 96"/>
          <p:cNvSpPr/>
          <p:nvPr userDrawn="1"/>
        </p:nvSpPr>
        <p:spPr>
          <a:xfrm>
            <a:off x="6176392" y="80216"/>
            <a:ext cx="2909889" cy="1299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1270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097168" name="Picture 8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53730" y="167793"/>
            <a:ext cx="2781397" cy="1038562"/>
          </a:xfrm>
          <a:prstGeom prst="rect">
            <a:avLst/>
          </a:prstGeom>
        </p:spPr>
      </p:pic>
      <p:grpSp>
        <p:nvGrpSpPr>
          <p:cNvPr id="73" name="Google Shape;161;p3"/>
          <p:cNvGrpSpPr/>
          <p:nvPr/>
        </p:nvGrpSpPr>
        <p:grpSpPr>
          <a:xfrm>
            <a:off x="8829187" y="1537463"/>
            <a:ext cx="301822" cy="872807"/>
            <a:chOff x="-225" y="2255817"/>
            <a:chExt cx="318950" cy="922336"/>
          </a:xfrm>
        </p:grpSpPr>
        <p:sp>
          <p:nvSpPr>
            <p:cNvPr id="1048833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34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35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36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837" name="Footer Placeholder 4"/>
          <p:cNvSpPr txBox="1"/>
          <p:nvPr userDrawn="1"/>
        </p:nvSpPr>
        <p:spPr>
          <a:xfrm>
            <a:off x="4960353" y="3252790"/>
            <a:ext cx="1977817" cy="34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err="1">
                <a:solidFill>
                  <a:schemeClr val="bg1"/>
                </a:solidFill>
              </a:rPr>
              <a:t>www.fikom.gunadarma.ac.id</a:t>
            </a:r>
            <a:endParaRPr lang="en-ID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Google Shape;254;p4"/>
          <p:cNvSpPr txBox="1"/>
          <p:nvPr/>
        </p:nvSpPr>
        <p:spPr>
          <a:xfrm>
            <a:off x="666125" y="574543"/>
            <a:ext cx="6663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“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1048930" name="Google Shape;255;p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</a:lvl1pPr>
            <a:lvl2pPr lvl="1" rtl="0">
              <a:buNone/>
            </a:lvl2pPr>
            <a:lvl3pPr lvl="2" rtl="0">
              <a:buNone/>
            </a:lvl3pPr>
            <a:lvl4pPr lvl="3" rtl="0">
              <a:buNone/>
            </a:lvl4pPr>
            <a:lvl5pPr lvl="4" rtl="0">
              <a:buNone/>
            </a:lvl5pPr>
            <a:lvl6pPr lvl="5" rtl="0">
              <a:buNone/>
            </a:lvl6pPr>
            <a:lvl7pPr lvl="6" rtl="0">
              <a:buNone/>
            </a:lvl7pPr>
            <a:lvl8pPr lvl="7" rtl="0">
              <a:buNone/>
            </a:lvl8pPr>
            <a:lvl9pPr lvl="8" rtl="0">
              <a:buNone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1048931" name="Rectangle 72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4140000" algn="tl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/>
          </a:p>
        </p:txBody>
      </p:sp>
      <p:pic>
        <p:nvPicPr>
          <p:cNvPr id="2097175" name="Picture 7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116053" y="2100110"/>
            <a:ext cx="911893" cy="943280"/>
          </a:xfrm>
          <a:prstGeom prst="rect">
            <a:avLst/>
          </a:prstGeom>
        </p:spPr>
      </p:pic>
      <p:sp>
        <p:nvSpPr>
          <p:cNvPr id="1048932" name="Footer Placeholder 4"/>
          <p:cNvSpPr txBox="1"/>
          <p:nvPr userDrawn="1"/>
        </p:nvSpPr>
        <p:spPr>
          <a:xfrm>
            <a:off x="0" y="4860580"/>
            <a:ext cx="2128058" cy="282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www.fikom.gunadarma.ac.id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048933" name="Google Shape;287;p5"/>
          <p:cNvSpPr txBox="1">
            <a:spLocks noGrp="1"/>
          </p:cNvSpPr>
          <p:nvPr>
            <p:ph type="body" idx="1"/>
          </p:nvPr>
        </p:nvSpPr>
        <p:spPr>
          <a:xfrm>
            <a:off x="5027945" y="847898"/>
            <a:ext cx="3660108" cy="36378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257;p5"/>
          <p:cNvGrpSpPr/>
          <p:nvPr/>
        </p:nvGrpSpPr>
        <p:grpSpPr>
          <a:xfrm>
            <a:off x="-207" y="0"/>
            <a:ext cx="9158157" cy="5149836"/>
            <a:chOff x="-207" y="0"/>
            <a:chExt cx="9158157" cy="5149836"/>
          </a:xfrm>
        </p:grpSpPr>
        <p:sp>
          <p:nvSpPr>
            <p:cNvPr id="1048845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46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47" name="Google Shape;260;p5"/>
            <p:cNvSpPr/>
            <p:nvPr/>
          </p:nvSpPr>
          <p:spPr>
            <a:xfrm>
              <a:off x="381728" y="664300"/>
              <a:ext cx="8122547" cy="6537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9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1048848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49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0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265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1048851" name="Google Shape;266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2" name="Google Shape;267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3" name="Google Shape;268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4" name="Google Shape;269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5" name="Google Shape;270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6" name="Google Shape;271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7" name="Google Shape;272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8" name="Google Shape;273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59" name="Google Shape;274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0" name="Google Shape;275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1" name="Google Shape;276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2" name="Google Shape;277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3" name="Google Shape;278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4" name="Google Shape;279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5" name="Google Shape;280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6" name="Google Shape;281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1048867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8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869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8870" name="Google Shape;286;p5"/>
          <p:cNvSpPr txBox="1">
            <a:spLocks noGrp="1"/>
          </p:cNvSpPr>
          <p:nvPr>
            <p:ph type="title"/>
          </p:nvPr>
        </p:nvSpPr>
        <p:spPr>
          <a:xfrm>
            <a:off x="677724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 dirty="0"/>
          </a:p>
        </p:txBody>
      </p:sp>
      <p:sp>
        <p:nvSpPr>
          <p:cNvPr id="1048871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</a:lvl9pPr>
          </a:lstStyle>
          <a:p>
            <a:endParaRPr dirty="0"/>
          </a:p>
        </p:txBody>
      </p:sp>
      <p:sp>
        <p:nvSpPr>
          <p:cNvPr id="1048872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</a:lvl1pPr>
            <a:lvl2pPr lvl="1" rtl="0">
              <a:buNone/>
            </a:lvl2pPr>
            <a:lvl3pPr lvl="2" rtl="0">
              <a:buNone/>
            </a:lvl3pPr>
            <a:lvl4pPr lvl="3" rtl="0">
              <a:buNone/>
            </a:lvl4pPr>
            <a:lvl5pPr lvl="4" rtl="0">
              <a:buNone/>
            </a:lvl5pPr>
            <a:lvl6pPr lvl="5" rtl="0">
              <a:buNone/>
            </a:lvl6pPr>
            <a:lvl7pPr lvl="6" rtl="0">
              <a:buNone/>
            </a:lvl7pPr>
            <a:lvl8pPr lvl="7" rtl="0">
              <a:buNone/>
            </a:lvl8pPr>
            <a:lvl9pPr lvl="8" rtl="0">
              <a:buNone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pic>
        <p:nvPicPr>
          <p:cNvPr id="2097169" name="Picture 3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3356" y="46422"/>
            <a:ext cx="586827" cy="607025"/>
          </a:xfrm>
          <a:prstGeom prst="rect">
            <a:avLst/>
          </a:prstGeom>
        </p:spPr>
      </p:pic>
      <p:sp>
        <p:nvSpPr>
          <p:cNvPr id="1048873" name="Rectangle 34"/>
          <p:cNvSpPr/>
          <p:nvPr userDrawn="1"/>
        </p:nvSpPr>
        <p:spPr>
          <a:xfrm flipV="1">
            <a:off x="640182" y="4967829"/>
            <a:ext cx="5848081" cy="59348"/>
          </a:xfrm>
          <a:prstGeom prst="rect">
            <a:avLst/>
          </a:prstGeom>
          <a:solidFill>
            <a:srgbClr val="8C1C77"/>
          </a:solidFill>
          <a:ln>
            <a:noFill/>
          </a:ln>
          <a:effectLst>
            <a:glow rad="1270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8874" name="Footer Placeholder 4"/>
          <p:cNvSpPr txBox="1"/>
          <p:nvPr userDrawn="1"/>
        </p:nvSpPr>
        <p:spPr>
          <a:xfrm>
            <a:off x="6321288" y="4778375"/>
            <a:ext cx="2319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www.fikom.gunadarma.ac.id</a:t>
            </a:r>
            <a:endParaRPr lang="en-ID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1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54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1048654" name="Google Shape;455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55" name="Google Shape;456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457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1048656" name="Google Shape;458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57" name="Google Shape;459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58" name="Google Shape;460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61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1048659" name="Google Shape;462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0" name="Google Shape;463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1" name="Google Shape;464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2" name="Google Shape;465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3" name="Google Shape;466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4" name="Google Shape;467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5" name="Google Shape;468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6" name="Google Shape;469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7" name="Google Shape;470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8" name="Google Shape;471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69" name="Google Shape;472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0" name="Google Shape;473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1" name="Google Shape;474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2" name="Google Shape;475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3" name="Google Shape;476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4" name="Google Shape;477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478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1048675" name="Google Shape;47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6" name="Google Shape;48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677" name="Google Shape;48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8678" name="Google Shape;482;p1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</a:lvl1pPr>
            <a:lvl2pPr lvl="1" rtl="0">
              <a:buNone/>
            </a:lvl2pPr>
            <a:lvl3pPr lvl="2" rtl="0">
              <a:buNone/>
            </a:lvl3pPr>
            <a:lvl4pPr lvl="3" rtl="0">
              <a:buNone/>
            </a:lvl4pPr>
            <a:lvl5pPr lvl="4" rtl="0">
              <a:buNone/>
            </a:lvl5pPr>
            <a:lvl6pPr lvl="5" rtl="0">
              <a:buNone/>
            </a:lvl6pPr>
            <a:lvl7pPr lvl="6" rtl="0">
              <a:buNone/>
            </a:lvl7pPr>
            <a:lvl8pPr lvl="7" rtl="0">
              <a:buNone/>
            </a:lvl8pPr>
            <a:lvl9pPr lvl="8" rtl="0">
              <a:buNone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pic>
        <p:nvPicPr>
          <p:cNvPr id="2097160" name="Picture 3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3356" y="46422"/>
            <a:ext cx="586827" cy="607025"/>
          </a:xfrm>
          <a:prstGeom prst="rect">
            <a:avLst/>
          </a:prstGeom>
        </p:spPr>
      </p:pic>
      <p:sp>
        <p:nvSpPr>
          <p:cNvPr id="1048679" name="Rectangle 31"/>
          <p:cNvSpPr/>
          <p:nvPr userDrawn="1"/>
        </p:nvSpPr>
        <p:spPr>
          <a:xfrm flipV="1">
            <a:off x="640182" y="4967829"/>
            <a:ext cx="5848081" cy="59348"/>
          </a:xfrm>
          <a:prstGeom prst="rect">
            <a:avLst/>
          </a:prstGeom>
          <a:solidFill>
            <a:srgbClr val="8C1C77"/>
          </a:solidFill>
          <a:ln>
            <a:noFill/>
          </a:ln>
          <a:effectLst>
            <a:glow rad="1270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8680" name="Footer Placeholder 4"/>
          <p:cNvSpPr txBox="1"/>
          <p:nvPr userDrawn="1"/>
        </p:nvSpPr>
        <p:spPr>
          <a:xfrm>
            <a:off x="6321288" y="4778375"/>
            <a:ext cx="2319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www.fikom.gunadarma.ac.id</a:t>
            </a:r>
            <a:endParaRPr lang="en-ID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2">
  <p:cSld name="BLANK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Google Shape;484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93" name="Google Shape;485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486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1048894" name="Google Shape;487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95" name="Google Shape;488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96" name="Google Shape;489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490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1048897" name="Google Shape;491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98" name="Google Shape;492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99" name="Google Shape;493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0" name="Google Shape;494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1" name="Google Shape;495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2" name="Google Shape;496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3" name="Google Shape;497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4" name="Google Shape;498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5" name="Google Shape;499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6" name="Google Shape;500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7" name="Google Shape;501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8" name="Google Shape;502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09" name="Google Shape;503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10" name="Google Shape;504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11" name="Google Shape;505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12" name="Google Shape;506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507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1048913" name="Google Shape;50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14" name="Google Shape;50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15" name="Google Shape;51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916" name="Google Shape;511;p12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pic>
        <p:nvPicPr>
          <p:cNvPr id="2097172" name="Picture 2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3356" y="46422"/>
            <a:ext cx="586827" cy="607025"/>
          </a:xfrm>
          <a:prstGeom prst="rect">
            <a:avLst/>
          </a:prstGeom>
        </p:spPr>
      </p:pic>
      <p:sp>
        <p:nvSpPr>
          <p:cNvPr id="1048917" name="Rectangle 30"/>
          <p:cNvSpPr/>
          <p:nvPr userDrawn="1"/>
        </p:nvSpPr>
        <p:spPr>
          <a:xfrm flipV="1">
            <a:off x="640182" y="4967829"/>
            <a:ext cx="5848081" cy="59348"/>
          </a:xfrm>
          <a:prstGeom prst="rect">
            <a:avLst/>
          </a:prstGeom>
          <a:solidFill>
            <a:srgbClr val="8C1C77"/>
          </a:solidFill>
          <a:ln>
            <a:noFill/>
          </a:ln>
          <a:effectLst>
            <a:glow rad="1270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8918" name="Footer Placeholder 4"/>
          <p:cNvSpPr txBox="1"/>
          <p:nvPr userDrawn="1"/>
        </p:nvSpPr>
        <p:spPr>
          <a:xfrm>
            <a:off x="6321288" y="4778375"/>
            <a:ext cx="2319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www.fikom.gunadarma.ac.id</a:t>
            </a:r>
            <a:endParaRPr lang="en-ID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Picture 4" descr="https://scontent.fbdo6-1.fna.fbcdn.net/v/t31.0-8/20507754_1377559915693183_6226504101409105455_o.jpg?_nc_cat=106&amp;_nc_sid=6e5ad9&amp;_nc_eui2=AeEOC6z64h91Qb96wtmacOv95jNsMJliUvfmM2wwmWJS980mBtQP8BDMT1NVR-oCk03IQ82PdEqdi5xYHXwmkfbP&amp;_nc_ohc=a2fXdtVAnM4AX_lVN4A&amp;_nc_ht=scontent.fbdo6-1.fna&amp;oh=9d4d2dda2a6207164df700c682d75b83&amp;oe=5EBDEA8F"/>
          <p:cNvPicPr>
            <a:picLocks noChangeAspect="1" noChangeArrowheads="1"/>
          </p:cNvPicPr>
          <p:nvPr userDrawn="1"/>
        </p:nvPicPr>
        <p:blipFill rotWithShape="1">
          <a:blip r:embed="rId2"/>
          <a:srcRect l="13043"/>
          <a:stretch>
            <a:fillRect/>
          </a:stretch>
        </p:blipFill>
        <p:spPr bwMode="auto">
          <a:xfrm>
            <a:off x="0" y="1"/>
            <a:ext cx="9144000" cy="4464844"/>
          </a:xfrm>
          <a:prstGeom prst="rect">
            <a:avLst/>
          </a:prstGeom>
          <a:noFill/>
        </p:spPr>
      </p:pic>
      <p:sp>
        <p:nvSpPr>
          <p:cNvPr id="1048924" name="Title 1"/>
          <p:cNvSpPr>
            <a:spLocks noGrp="1"/>
          </p:cNvSpPr>
          <p:nvPr>
            <p:ph type="title"/>
          </p:nvPr>
        </p:nvSpPr>
        <p:spPr>
          <a:xfrm>
            <a:off x="311974" y="4489799"/>
            <a:ext cx="7843200" cy="653700"/>
          </a:xfrm>
        </p:spPr>
        <p:txBody>
          <a:bodyPr/>
          <a:lstStyle>
            <a:lvl1pPr algn="ctr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48925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48926" name="Footer Placeholder 4"/>
          <p:cNvSpPr txBox="1"/>
          <p:nvPr userDrawn="1"/>
        </p:nvSpPr>
        <p:spPr>
          <a:xfrm>
            <a:off x="3790604" y="32887"/>
            <a:ext cx="2103792" cy="29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www.fikom.gunadarma.ac.id</a:t>
            </a:r>
            <a:endParaRPr lang="en-ID" dirty="0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120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224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7704" y="845888"/>
            <a:ext cx="7768590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5016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28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hmad%20Hidayat_Univ._Gunadarma_RPS.doc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extBox 14"/>
          <p:cNvSpPr txBox="1"/>
          <p:nvPr/>
        </p:nvSpPr>
        <p:spPr>
          <a:xfrm>
            <a:off x="4867372" y="3273398"/>
            <a:ext cx="1967113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48838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sz="2800" dirty="0">
                <a:solidFill>
                  <a:schemeClr val="bg1"/>
                </a:solidFill>
              </a:rPr>
              <a:t>ALGORITMA DAN </a:t>
            </a:r>
            <a:r>
              <a:rPr lang="en-US" sz="2800">
                <a:solidFill>
                  <a:schemeClr val="bg1"/>
                </a:solidFill>
              </a:rPr>
              <a:t>PEMROGRAMAN 1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48839" name="Subtitle 12"/>
          <p:cNvSpPr>
            <a:spLocks noGrp="1"/>
          </p:cNvSpPr>
          <p:nvPr>
            <p:ph type="subTitle" idx="1"/>
          </p:nvPr>
        </p:nvSpPr>
        <p:spPr>
          <a:xfrm>
            <a:off x="603425" y="2779998"/>
            <a:ext cx="5497200" cy="734930"/>
          </a:xfrm>
        </p:spPr>
        <p:txBody>
          <a:bodyPr/>
          <a:lstStyle/>
          <a:p>
            <a:pPr algn="r"/>
            <a:r>
              <a:rPr lang="en-US" sz="2000" dirty="0"/>
              <a:t>Ahmad Hidayat, </a:t>
            </a:r>
            <a:r>
              <a:rPr lang="en-US" sz="2000" dirty="0" err="1"/>
              <a:t>SKom</a:t>
            </a:r>
            <a:r>
              <a:rPr lang="en-US" sz="2000" dirty="0"/>
              <a:t>., MMSI</a:t>
            </a:r>
          </a:p>
          <a:p>
            <a:pPr algn="r"/>
            <a:r>
              <a:rPr lang="en-US" sz="1400" dirty="0"/>
              <a:t>0310109201</a:t>
            </a:r>
          </a:p>
        </p:txBody>
      </p:sp>
      <p:sp>
        <p:nvSpPr>
          <p:cNvPr id="1048840" name="TextBox 13"/>
          <p:cNvSpPr txBox="1"/>
          <p:nvPr/>
        </p:nvSpPr>
        <p:spPr>
          <a:xfrm>
            <a:off x="3274843" y="4236420"/>
            <a:ext cx="242154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INFORMATIKA</a:t>
            </a:r>
          </a:p>
          <a:p>
            <a:pPr algn="ctr"/>
            <a:r>
              <a:rPr lang="en-US" sz="1600" dirty="0"/>
              <a:t>S1</a:t>
            </a:r>
          </a:p>
        </p:txBody>
      </p:sp>
      <p:sp>
        <p:nvSpPr>
          <p:cNvPr id="1048842" name="TextBox 15"/>
          <p:cNvSpPr txBox="1"/>
          <p:nvPr/>
        </p:nvSpPr>
        <p:spPr>
          <a:xfrm>
            <a:off x="12970" y="3749808"/>
            <a:ext cx="3050561" cy="13370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AC80FB48-FFB8-CD52-5965-2FCDEFD464F5}"/>
              </a:ext>
            </a:extLst>
          </p:cNvPr>
          <p:cNvSpPr txBox="1"/>
          <p:nvPr/>
        </p:nvSpPr>
        <p:spPr>
          <a:xfrm>
            <a:off x="41378" y="3240274"/>
            <a:ext cx="1967113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Google Shape;550;p18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 err="1"/>
              <a:t>Rencana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Semester (RPS)</a:t>
            </a:r>
          </a:p>
        </p:txBody>
      </p:sp>
      <p:sp>
        <p:nvSpPr>
          <p:cNvPr id="1048876" name="Google Shape;552;p18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lang="en"/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BC6B7709-9D41-F2A6-1438-F9110713D13B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981E9-D8E6-9AC9-50BB-BB1F4609C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272" y="2046157"/>
            <a:ext cx="7843199" cy="2434794"/>
          </a:xfrm>
        </p:spPr>
        <p:txBody>
          <a:bodyPr/>
          <a:lstStyle/>
          <a:p>
            <a:endParaRPr lang="en-US" sz="1800" spc="5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1800" spc="5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Akses</a:t>
            </a:r>
            <a:r>
              <a:rPr lang="en-US" sz="1800" spc="5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:</a:t>
            </a:r>
          </a:p>
          <a:p>
            <a:pPr lvl="1"/>
            <a:r>
              <a:rPr lang="en-US" sz="1800" spc="5" dirty="0">
                <a:latin typeface="Calibri" panose="020F0502020204030204" pitchFamily="34" charset="0"/>
              </a:rPr>
              <a:t>sap.gunadarma.ac.id</a:t>
            </a:r>
          </a:p>
          <a:p>
            <a:pPr lvl="1"/>
            <a:r>
              <a:rPr lang="en-US" sz="1800" spc="5" dirty="0">
                <a:latin typeface="Calibri" panose="020F0502020204030204" pitchFamily="34" charset="0"/>
              </a:rPr>
              <a:t>ahmad_hidayat@staff.gunadarma.ac.id</a:t>
            </a:r>
            <a:endParaRPr lang="en-US" sz="1800" dirty="0"/>
          </a:p>
        </p:txBody>
      </p:sp>
      <p:sp>
        <p:nvSpPr>
          <p:cNvPr id="6" name="TextBox 5">
            <a:hlinkClick r:id="rId3" action="ppaction://hlinkfile"/>
            <a:extLst>
              <a:ext uri="{FF2B5EF4-FFF2-40B4-BE49-F238E27FC236}">
                <a16:creationId xmlns:a16="http://schemas.microsoft.com/office/drawing/2014/main" id="{D8CE34F3-EA21-17B0-7027-4B02FB0C62EA}"/>
              </a:ext>
            </a:extLst>
          </p:cNvPr>
          <p:cNvSpPr txBox="1"/>
          <p:nvPr/>
        </p:nvSpPr>
        <p:spPr>
          <a:xfrm>
            <a:off x="832728" y="1697488"/>
            <a:ext cx="1985423" cy="611386"/>
          </a:xfrm>
          <a:prstGeom prst="striped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DOKUMEN RPS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014A7-DD5C-A9B6-603B-46DC4C80D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977" y="3564581"/>
            <a:ext cx="1346751" cy="1265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E5C0-C520-8007-398F-D47A05A0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284A8-6F21-00B1-DF6F-1FA7152E8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2320" y="1449157"/>
            <a:ext cx="6650700" cy="2886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Sejarah dan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Definisi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Algoritma</a:t>
            </a:r>
            <a:endParaRPr lang="en-US" dirty="0">
              <a:solidFill>
                <a:schemeClr val="accent1"/>
              </a:solidFill>
              <a:latin typeface="Barlow Condensed Medium" panose="00000606000000000000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Konsep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Algoritma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pada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kehidupan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sehari-hari</a:t>
            </a:r>
            <a:endParaRPr lang="en-US" dirty="0">
              <a:solidFill>
                <a:schemeClr val="accent1"/>
              </a:solidFill>
              <a:latin typeface="Barlow Condensed Medium" panose="00000606000000000000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Langkah–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langkah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yang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diperlukan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untuk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mendefinisikan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masalah</a:t>
            </a:r>
            <a:endParaRPr lang="en-US" dirty="0">
              <a:solidFill>
                <a:schemeClr val="accent1"/>
              </a:solidFill>
              <a:latin typeface="Barlow Condensed Medium" panose="00000606000000000000" pitchFamily="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Konsep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program,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pemrograman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, dan Bahasa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pemrograman</a:t>
            </a:r>
            <a:r>
              <a:rPr lang="en-US" dirty="0">
                <a:solidFill>
                  <a:schemeClr val="accent1"/>
                </a:solidFill>
                <a:latin typeface="Barlow Condensed Medium" panose="00000606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Barlow Condensed Medium" panose="00000606000000000000" pitchFamily="2" charset="0"/>
              </a:rPr>
              <a:t>standar</a:t>
            </a:r>
            <a:endParaRPr lang="en-US" dirty="0">
              <a:solidFill>
                <a:schemeClr val="accent1"/>
              </a:solidFill>
              <a:latin typeface="Barlow Condensed Medium" panose="00000606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C6CC1-CF8B-68DC-7B23-F83E0E509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42AB39B6-3066-BB96-B346-09A51CFB68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3020" y="513413"/>
            <a:ext cx="1192955" cy="1026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DBC724-44C9-9CAE-500F-9D1983DBA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20" y="2892157"/>
            <a:ext cx="1192955" cy="1340360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3FFE5ED2-FEC7-0421-D8D8-42AB68D33FE8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452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E09746A-D287-93A6-4E0F-152E9819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/>
              <a:t>Perhatikan</a:t>
            </a:r>
            <a:r>
              <a:rPr lang="en-US" b="1" dirty="0"/>
              <a:t> Gambar-Gambar </a:t>
            </a:r>
            <a:r>
              <a:rPr lang="en-US" b="1" dirty="0" err="1"/>
              <a:t>Berikut</a:t>
            </a:r>
            <a:r>
              <a:rPr lang="en-US" b="1" dirty="0"/>
              <a:t>!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7D223870-07A6-F60D-6682-8A7B45467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300" y="1657350"/>
            <a:ext cx="807244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3">
            <a:extLst>
              <a:ext uri="{FF2B5EF4-FFF2-40B4-BE49-F238E27FC236}">
                <a16:creationId xmlns:a16="http://schemas.microsoft.com/office/drawing/2014/main" id="{6656F315-7AE1-599B-DA5B-3F66C4848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299" y="3486151"/>
            <a:ext cx="928688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>
            <a:extLst>
              <a:ext uri="{FF2B5EF4-FFF2-40B4-BE49-F238E27FC236}">
                <a16:creationId xmlns:a16="http://schemas.microsoft.com/office/drawing/2014/main" id="{28B77AEF-5B0F-D68B-D121-55A47605B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051" y="1714501"/>
            <a:ext cx="792956" cy="79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5">
            <a:extLst>
              <a:ext uri="{FF2B5EF4-FFF2-40B4-BE49-F238E27FC236}">
                <a16:creationId xmlns:a16="http://schemas.microsoft.com/office/drawing/2014/main" id="{95B01FC9-DF55-12D7-DBA5-795123B10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599" y="3362325"/>
            <a:ext cx="14573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6">
            <a:extLst>
              <a:ext uri="{FF2B5EF4-FFF2-40B4-BE49-F238E27FC236}">
                <a16:creationId xmlns:a16="http://schemas.microsoft.com/office/drawing/2014/main" id="{8C8770B8-47FE-2096-F70C-265FC4F11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69" y="1579636"/>
            <a:ext cx="781049" cy="117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Right Arrow 8">
            <a:extLst>
              <a:ext uri="{FF2B5EF4-FFF2-40B4-BE49-F238E27FC236}">
                <a16:creationId xmlns:a16="http://schemas.microsoft.com/office/drawing/2014/main" id="{64B6E126-4974-2473-9788-BA953E187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949" y="1943100"/>
            <a:ext cx="733425" cy="363141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050"/>
          </a:p>
        </p:txBody>
      </p:sp>
      <p:sp>
        <p:nvSpPr>
          <p:cNvPr id="15369" name="Right Arrow 9">
            <a:extLst>
              <a:ext uri="{FF2B5EF4-FFF2-40B4-BE49-F238E27FC236}">
                <a16:creationId xmlns:a16="http://schemas.microsoft.com/office/drawing/2014/main" id="{73D2763F-9C8A-01D8-27F1-AE3C3AD3C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599" y="1885950"/>
            <a:ext cx="733425" cy="363141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050"/>
          </a:p>
        </p:txBody>
      </p:sp>
      <p:sp>
        <p:nvSpPr>
          <p:cNvPr id="15370" name="Down Arrow 10">
            <a:extLst>
              <a:ext uri="{FF2B5EF4-FFF2-40B4-BE49-F238E27FC236}">
                <a16:creationId xmlns:a16="http://schemas.microsoft.com/office/drawing/2014/main" id="{8491BECB-73A9-A3DE-5B59-CAE59AA4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749" y="2628900"/>
            <a:ext cx="363141" cy="733425"/>
          </a:xfrm>
          <a:prstGeom prst="down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050"/>
          </a:p>
        </p:txBody>
      </p:sp>
      <p:sp>
        <p:nvSpPr>
          <p:cNvPr id="15371" name="Right Arrow 11">
            <a:extLst>
              <a:ext uri="{FF2B5EF4-FFF2-40B4-BE49-F238E27FC236}">
                <a16:creationId xmlns:a16="http://schemas.microsoft.com/office/drawing/2014/main" id="{B09C595E-931B-3659-AC30-9E1A7BB66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449" y="3568001"/>
            <a:ext cx="733425" cy="363141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d-ID" altLang="en-US" sz="1050"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056DA19A-C9B6-EE9E-1F2E-319BF8F6ABF6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E822318-828D-B2EE-CA7D-5F972D2B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/>
              <a:t>Algoritma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Kehidupan</a:t>
            </a:r>
            <a:endParaRPr lang="en-US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BA820E-CA7D-CA1D-B060-DAD360DB8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DC599FCE-4FCA-566B-4F53-60598A0F8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870" y="1501919"/>
            <a:ext cx="3828105" cy="288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1C47DBD3-E02F-8D3E-1C3E-AFD8CD30D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040" y="1456645"/>
            <a:ext cx="2857500" cy="3153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27C94AC2-BB38-66AC-6CC3-D0A780AD7076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lang="en-US" b="1" spc="-4" dirty="0" err="1"/>
              <a:t>Definisi</a:t>
            </a:r>
            <a:r>
              <a:rPr lang="en-US" b="1" spc="-4" dirty="0"/>
              <a:t> Kata</a:t>
            </a:r>
            <a:r>
              <a:rPr lang="en-US" b="1" spc="11" dirty="0"/>
              <a:t> </a:t>
            </a:r>
            <a:r>
              <a:rPr lang="en-US" b="1" spc="-8" dirty="0" err="1"/>
              <a:t>Algoritma</a:t>
            </a:r>
            <a:endParaRPr lang="en-US" b="1" spc="-8" dirty="0"/>
          </a:p>
        </p:txBody>
      </p:sp>
      <p:sp>
        <p:nvSpPr>
          <p:cNvPr id="3" name="object 3"/>
          <p:cNvSpPr txBox="1"/>
          <p:nvPr/>
        </p:nvSpPr>
        <p:spPr>
          <a:xfrm>
            <a:off x="894196" y="1469973"/>
            <a:ext cx="7387869" cy="2423260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180975" marR="7144" indent="-171450" algn="just">
              <a:spcBef>
                <a:spcPts val="356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Algoritma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adalah </a:t>
            </a:r>
            <a:r>
              <a:rPr sz="2100" dirty="0" err="1">
                <a:solidFill>
                  <a:srgbClr val="171616"/>
                </a:solidFill>
                <a:latin typeface="Lato"/>
                <a:cs typeface="Lato"/>
              </a:rPr>
              <a:t>urutan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langkah-langkah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 logis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penyelesaian 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masalah yang disusun </a:t>
            </a:r>
            <a:r>
              <a:rPr sz="2100" spc="-11" dirty="0">
                <a:solidFill>
                  <a:srgbClr val="171616"/>
                </a:solidFill>
                <a:latin typeface="Lato"/>
                <a:cs typeface="Lato"/>
              </a:rPr>
              <a:t>secara 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sistematis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 ( Rinaldi munir :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2002</a:t>
            </a:r>
            <a:r>
              <a:rPr sz="2100" spc="12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)</a:t>
            </a:r>
            <a:endParaRPr sz="2100" dirty="0">
              <a:latin typeface="Lato"/>
              <a:cs typeface="Lato"/>
            </a:endParaRPr>
          </a:p>
          <a:p>
            <a:pPr marL="180975" marR="6668" indent="-171450" algn="just">
              <a:spcBef>
                <a:spcPts val="754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Algoritma adalah urutan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langkah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logis pengambilan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keputusan 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untuk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pemecahan masalah ( KBBI : 1988</a:t>
            </a:r>
            <a:r>
              <a:rPr sz="2100" spc="6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).</a:t>
            </a:r>
            <a:endParaRPr lang="en-US" sz="2100" spc="-4" dirty="0">
              <a:solidFill>
                <a:srgbClr val="171616"/>
              </a:solidFill>
              <a:latin typeface="Lato"/>
              <a:cs typeface="Lato"/>
            </a:endParaRPr>
          </a:p>
          <a:p>
            <a:pPr marL="181928" indent="-171450">
              <a:spcBef>
                <a:spcPts val="71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2100" dirty="0" err="1">
                <a:latin typeface="Lato" panose="020F0502020204030203" pitchFamily="34" charset="0"/>
              </a:rPr>
              <a:t>Algoritma</a:t>
            </a:r>
            <a:r>
              <a:rPr lang="en-US" sz="2100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adalah</a:t>
            </a:r>
            <a:r>
              <a:rPr lang="en-US" sz="2100" spc="-4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jantung</a:t>
            </a:r>
            <a:r>
              <a:rPr lang="en-US" sz="2100" spc="-4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ilmu</a:t>
            </a:r>
            <a:r>
              <a:rPr lang="en-US" sz="2100" spc="-4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komputer</a:t>
            </a:r>
            <a:r>
              <a:rPr lang="en-US" sz="2100" spc="-4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atau</a:t>
            </a:r>
            <a:r>
              <a:rPr lang="en-US" sz="2100" spc="86" dirty="0">
                <a:latin typeface="Lato" panose="020F0502020204030203" pitchFamily="34" charset="0"/>
              </a:rPr>
              <a:t> </a:t>
            </a:r>
            <a:r>
              <a:rPr lang="en-US" sz="2100" spc="-4" dirty="0" err="1">
                <a:latin typeface="Lato" panose="020F0502020204030203" pitchFamily="34" charset="0"/>
              </a:rPr>
              <a:t>informatika</a:t>
            </a:r>
            <a:r>
              <a:rPr lang="en-US" sz="2100" spc="-4" dirty="0">
                <a:latin typeface="Lato" panose="020F0502020204030203" pitchFamily="34" charset="0"/>
              </a:rPr>
              <a:t>.</a:t>
            </a:r>
            <a:endParaRPr lang="en-US" sz="2100" dirty="0">
              <a:latin typeface="Lato" panose="020F0502020204030203" pitchFamily="34" charset="0"/>
            </a:endParaRPr>
          </a:p>
          <a:p>
            <a:pPr marL="181928" marR="4286" indent="-171450">
              <a:buFont typeface="Arial"/>
              <a:buChar char="•"/>
              <a:tabLst>
                <a:tab pos="182403" algn="l"/>
                <a:tab pos="1180148" algn="l"/>
                <a:tab pos="2142649" algn="l"/>
                <a:tab pos="2779395" algn="l"/>
                <a:tab pos="4049554" algn="l"/>
                <a:tab pos="4741069" algn="l"/>
                <a:tab pos="5500211" algn="l"/>
                <a:tab pos="6340316" algn="l"/>
              </a:tabLst>
            </a:pPr>
            <a:r>
              <a:rPr lang="en-US" sz="2100" spc="-4" dirty="0">
                <a:latin typeface="Lato" panose="020F0502020204030203" pitchFamily="34" charset="0"/>
              </a:rPr>
              <a:t>Ba</a:t>
            </a:r>
            <a:r>
              <a:rPr lang="en-US" sz="2100" spc="-23" dirty="0">
                <a:latin typeface="Lato" panose="020F0502020204030203" pitchFamily="34" charset="0"/>
              </a:rPr>
              <a:t>n</a:t>
            </a:r>
            <a:r>
              <a:rPr lang="en-US" sz="2100" dirty="0">
                <a:latin typeface="Lato" panose="020F0502020204030203" pitchFamily="34" charset="0"/>
              </a:rPr>
              <a:t>y</a:t>
            </a:r>
            <a:r>
              <a:rPr lang="en-US" sz="2100" spc="-4" dirty="0">
                <a:latin typeface="Lato" panose="020F0502020204030203" pitchFamily="34" charset="0"/>
              </a:rPr>
              <a:t>ak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 err="1">
                <a:latin typeface="Lato" panose="020F0502020204030203" pitchFamily="34" charset="0"/>
              </a:rPr>
              <a:t>ca</a:t>
            </a:r>
            <a:r>
              <a:rPr lang="en-US" sz="2100" dirty="0" err="1">
                <a:latin typeface="Lato" panose="020F0502020204030203" pitchFamily="34" charset="0"/>
              </a:rPr>
              <a:t>b</a:t>
            </a:r>
            <a:r>
              <a:rPr lang="en-US" sz="2100" spc="-4" dirty="0" err="1">
                <a:latin typeface="Lato" panose="020F0502020204030203" pitchFamily="34" charset="0"/>
              </a:rPr>
              <a:t>ang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 err="1">
                <a:latin typeface="Lato" panose="020F0502020204030203" pitchFamily="34" charset="0"/>
              </a:rPr>
              <a:t>ilmu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 err="1">
                <a:latin typeface="Lato" panose="020F0502020204030203" pitchFamily="34" charset="0"/>
              </a:rPr>
              <a:t>k</a:t>
            </a:r>
            <a:r>
              <a:rPr lang="en-US" sz="2100" spc="8" dirty="0" err="1">
                <a:latin typeface="Lato" panose="020F0502020204030203" pitchFamily="34" charset="0"/>
              </a:rPr>
              <a:t>o</a:t>
            </a:r>
            <a:r>
              <a:rPr lang="en-US" sz="2100" spc="-4" dirty="0" err="1">
                <a:latin typeface="Lato" panose="020F0502020204030203" pitchFamily="34" charset="0"/>
              </a:rPr>
              <a:t>m</a:t>
            </a:r>
            <a:r>
              <a:rPr lang="en-US" sz="2100" spc="4" dirty="0" err="1">
                <a:latin typeface="Lato" panose="020F0502020204030203" pitchFamily="34" charset="0"/>
              </a:rPr>
              <a:t>p</a:t>
            </a:r>
            <a:r>
              <a:rPr lang="en-US" sz="2100" spc="-4" dirty="0" err="1">
                <a:latin typeface="Lato" panose="020F0502020204030203" pitchFamily="34" charset="0"/>
              </a:rPr>
              <a:t>uter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>
                <a:latin typeface="Lato" panose="020F0502020204030203" pitchFamily="34" charset="0"/>
              </a:rPr>
              <a:t>y</a:t>
            </a:r>
            <a:r>
              <a:rPr lang="en-US" sz="2100" dirty="0">
                <a:latin typeface="Lato" panose="020F0502020204030203" pitchFamily="34" charset="0"/>
              </a:rPr>
              <a:t>a</a:t>
            </a:r>
            <a:r>
              <a:rPr lang="en-US" sz="2100" spc="8" dirty="0">
                <a:latin typeface="Lato" panose="020F0502020204030203" pitchFamily="34" charset="0"/>
              </a:rPr>
              <a:t>n</a:t>
            </a:r>
            <a:r>
              <a:rPr lang="en-US" sz="2100" spc="-4" dirty="0">
                <a:latin typeface="Lato" panose="020F0502020204030203" pitchFamily="34" charset="0"/>
              </a:rPr>
              <a:t>g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 err="1">
                <a:latin typeface="Lato" panose="020F0502020204030203" pitchFamily="34" charset="0"/>
              </a:rPr>
              <a:t>diacu</a:t>
            </a:r>
            <a:r>
              <a:rPr lang="en-US" sz="2100" dirty="0">
                <a:latin typeface="Lato" panose="020F0502020204030203" pitchFamily="34" charset="0"/>
              </a:rPr>
              <a:t>	</a:t>
            </a:r>
            <a:r>
              <a:rPr lang="en-US" sz="2100" spc="-4" dirty="0" err="1">
                <a:latin typeface="Lato" panose="020F0502020204030203" pitchFamily="34" charset="0"/>
              </a:rPr>
              <a:t>dal</a:t>
            </a:r>
            <a:r>
              <a:rPr lang="en-US" sz="2100" dirty="0" err="1">
                <a:latin typeface="Lato" panose="020F0502020204030203" pitchFamily="34" charset="0"/>
              </a:rPr>
              <a:t>a</a:t>
            </a:r>
            <a:r>
              <a:rPr lang="en-US" sz="2100" spc="-4" dirty="0" err="1">
                <a:latin typeface="Lato" panose="020F0502020204030203" pitchFamily="34" charset="0"/>
              </a:rPr>
              <a:t>m</a:t>
            </a:r>
            <a:r>
              <a:rPr lang="en-US" sz="2100" spc="-4" dirty="0">
                <a:latin typeface="Lato" panose="020F0502020204030203" pitchFamily="34" charset="0"/>
              </a:rPr>
              <a:t> t</a:t>
            </a:r>
            <a:r>
              <a:rPr lang="en-US" sz="2100" dirty="0">
                <a:latin typeface="Lato" panose="020F0502020204030203" pitchFamily="34" charset="0"/>
              </a:rPr>
              <a:t>e</a:t>
            </a:r>
            <a:r>
              <a:rPr lang="en-US" sz="2100" spc="-4" dirty="0">
                <a:latin typeface="Lato" panose="020F0502020204030203" pitchFamily="34" charset="0"/>
              </a:rPr>
              <a:t>rmin</a:t>
            </a:r>
            <a:r>
              <a:rPr lang="en-US" sz="2100" spc="4" dirty="0">
                <a:latin typeface="Lato" panose="020F0502020204030203" pitchFamily="34" charset="0"/>
              </a:rPr>
              <a:t>o</a:t>
            </a:r>
            <a:r>
              <a:rPr lang="en-US" sz="2100" spc="-4" dirty="0">
                <a:latin typeface="Lato" panose="020F0502020204030203" pitchFamily="34" charset="0"/>
              </a:rPr>
              <a:t>l</a:t>
            </a:r>
            <a:r>
              <a:rPr lang="en-US" sz="2100" dirty="0">
                <a:latin typeface="Lato" panose="020F0502020204030203" pitchFamily="34" charset="0"/>
              </a:rPr>
              <a:t>o</a:t>
            </a:r>
            <a:r>
              <a:rPr lang="en-US" sz="2100" spc="-4" dirty="0">
                <a:latin typeface="Lato" panose="020F0502020204030203" pitchFamily="34" charset="0"/>
              </a:rPr>
              <a:t>gy  </a:t>
            </a:r>
            <a:r>
              <a:rPr lang="en-US" sz="2100" spc="-4" dirty="0" err="1">
                <a:latin typeface="Lato" panose="020F0502020204030203" pitchFamily="34" charset="0"/>
              </a:rPr>
              <a:t>algoritma</a:t>
            </a:r>
            <a:r>
              <a:rPr lang="en-US" sz="2100" spc="-4" dirty="0">
                <a:latin typeface="Lato" panose="020F0502020204030203" pitchFamily="34" charset="0"/>
              </a:rPr>
              <a:t>.</a:t>
            </a:r>
            <a:endParaRPr lang="en-US" sz="2100" dirty="0">
              <a:latin typeface="Lato" panose="020F0502020204030203" pitchFamily="34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6AE06BE8-5D59-7A0C-41A1-152487A59C43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245F-16C4-DC1C-62B8-D63E86E1A2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00163" y="663575"/>
            <a:ext cx="7843837" cy="65405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Sejarah </a:t>
            </a:r>
            <a:r>
              <a:rPr lang="en-US" b="1" dirty="0" err="1">
                <a:solidFill>
                  <a:schemeClr val="accent1"/>
                </a:solidFill>
              </a:rPr>
              <a:t>Algoritma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6228-BBE0-50E1-86F4-E3549F47E3D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04538" y="1436978"/>
            <a:ext cx="5819775" cy="3211513"/>
          </a:xfrm>
        </p:spPr>
        <p:txBody>
          <a:bodyPr>
            <a:normAutofit fontScale="92500"/>
          </a:bodyPr>
          <a:lstStyle/>
          <a:p>
            <a:pPr algn="just" eaLnBrk="1" hangingPunct="1">
              <a:buFontTx/>
              <a:buNone/>
            </a:pPr>
            <a:r>
              <a:rPr lang="en-US" altLang="en-US" sz="1800" dirty="0" err="1">
                <a:latin typeface="Lato" panose="020F0502020204030203" pitchFamily="34" charset="0"/>
              </a:rPr>
              <a:t>Asal</a:t>
            </a:r>
            <a:r>
              <a:rPr lang="en-US" altLang="en-US" sz="1800" dirty="0">
                <a:latin typeface="Lato" panose="020F0502020204030203" pitchFamily="34" charset="0"/>
              </a:rPr>
              <a:t> kata </a:t>
            </a:r>
            <a:r>
              <a:rPr lang="en-US" altLang="en-US" sz="1800" dirty="0" err="1">
                <a:latin typeface="Lato" panose="020F0502020204030203" pitchFamily="34" charset="0"/>
              </a:rPr>
              <a:t>Algoritma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berasal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dari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nama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b="1" dirty="0">
                <a:latin typeface="Lato" panose="020F0502020204030203" pitchFamily="34" charset="0"/>
              </a:rPr>
              <a:t>Abu </a:t>
            </a:r>
            <a:r>
              <a:rPr lang="en-US" altLang="en-US" sz="1800" b="1" dirty="0" err="1">
                <a:latin typeface="Lato" panose="020F0502020204030203" pitchFamily="34" charset="0"/>
              </a:rPr>
              <a:t>Ja’far</a:t>
            </a:r>
            <a:r>
              <a:rPr lang="en-US" altLang="en-US" sz="1800" b="1" dirty="0">
                <a:latin typeface="Lato" panose="020F0502020204030203" pitchFamily="34" charset="0"/>
              </a:rPr>
              <a:t> Mohammed Ibnu Musa al-</a:t>
            </a:r>
            <a:r>
              <a:rPr lang="en-US" altLang="en-US" sz="1800" b="1" dirty="0" err="1">
                <a:latin typeface="Lato" panose="020F0502020204030203" pitchFamily="34" charset="0"/>
              </a:rPr>
              <a:t>Khawarizmi</a:t>
            </a:r>
            <a:r>
              <a:rPr lang="en-US" altLang="en-US" sz="1800" dirty="0">
                <a:latin typeface="Lato" panose="020F0502020204030203" pitchFamily="34" charset="0"/>
              </a:rPr>
              <a:t>, </a:t>
            </a:r>
            <a:r>
              <a:rPr lang="en-US" altLang="en-US" sz="1800" dirty="0" err="1">
                <a:latin typeface="Lato" panose="020F0502020204030203" pitchFamily="34" charset="0"/>
              </a:rPr>
              <a:t>ilmuan</a:t>
            </a:r>
            <a:r>
              <a:rPr lang="en-US" altLang="en-US" sz="1800" dirty="0">
                <a:latin typeface="Lato" panose="020F0502020204030203" pitchFamily="34" charset="0"/>
              </a:rPr>
              <a:t>  Persia yang </a:t>
            </a:r>
            <a:r>
              <a:rPr lang="en-US" altLang="en-US" sz="1800" dirty="0" err="1">
                <a:latin typeface="Lato" panose="020F0502020204030203" pitchFamily="34" charset="0"/>
              </a:rPr>
              <a:t>menulis</a:t>
            </a:r>
            <a:r>
              <a:rPr lang="en-US" altLang="en-US" sz="1800" dirty="0">
                <a:latin typeface="Lato" panose="020F0502020204030203" pitchFamily="34" charset="0"/>
              </a:rPr>
              <a:t> kitab </a:t>
            </a:r>
            <a:r>
              <a:rPr lang="en-US" altLang="en-US" sz="1800" b="1" dirty="0">
                <a:latin typeface="Lato" panose="020F0502020204030203" pitchFamily="34" charset="0"/>
              </a:rPr>
              <a:t>al  </a:t>
            </a:r>
            <a:r>
              <a:rPr lang="en-US" altLang="en-US" sz="1800" b="1" dirty="0" err="1">
                <a:latin typeface="Lato" panose="020F0502020204030203" pitchFamily="34" charset="0"/>
              </a:rPr>
              <a:t>jabr</a:t>
            </a:r>
            <a:r>
              <a:rPr lang="en-US" altLang="en-US" sz="1800" b="1" dirty="0">
                <a:latin typeface="Lato" panose="020F0502020204030203" pitchFamily="34" charset="0"/>
              </a:rPr>
              <a:t>  </a:t>
            </a:r>
            <a:r>
              <a:rPr lang="en-US" altLang="en-US" sz="1800" b="1" dirty="0" err="1">
                <a:latin typeface="Lato" panose="020F0502020204030203" pitchFamily="34" charset="0"/>
              </a:rPr>
              <a:t>w’al-muqabala</a:t>
            </a:r>
            <a:r>
              <a:rPr lang="en-US" altLang="en-US" sz="1800" dirty="0">
                <a:latin typeface="Lato" panose="020F0502020204030203" pitchFamily="34" charset="0"/>
              </a:rPr>
              <a:t> (</a:t>
            </a:r>
            <a:r>
              <a:rPr lang="en-US" altLang="en-US" sz="1800" i="1" dirty="0">
                <a:latin typeface="Lato" panose="020F0502020204030203" pitchFamily="34" charset="0"/>
              </a:rPr>
              <a:t>rules of restoration and reduction</a:t>
            </a:r>
            <a:r>
              <a:rPr lang="en-US" altLang="en-US" sz="1800" dirty="0">
                <a:latin typeface="Lato" panose="020F0502020204030203" pitchFamily="34" charset="0"/>
              </a:rPr>
              <a:t>).</a:t>
            </a:r>
          </a:p>
          <a:p>
            <a:pPr algn="just" eaLnBrk="1" hangingPunct="1">
              <a:buFontTx/>
              <a:buNone/>
            </a:pPr>
            <a:r>
              <a:rPr lang="en-US" altLang="en-US" sz="1800" dirty="0">
                <a:latin typeface="Lato" panose="020F0502020204030203" pitchFamily="34" charset="0"/>
              </a:rPr>
              <a:t>Pada </a:t>
            </a:r>
            <a:r>
              <a:rPr lang="en-US" altLang="en-US" sz="1800" dirty="0" err="1">
                <a:latin typeface="Lato" panose="020F0502020204030203" pitchFamily="34" charset="0"/>
              </a:rPr>
              <a:t>saat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itu</a:t>
            </a:r>
            <a:r>
              <a:rPr lang="en-US" altLang="en-US" sz="1800" dirty="0">
                <a:latin typeface="Lato" panose="020F0502020204030203" pitchFamily="34" charset="0"/>
              </a:rPr>
              <a:t>, Al-Khwarizmi </a:t>
            </a:r>
            <a:r>
              <a:rPr lang="en-US" altLang="en-US" sz="1800" dirty="0" err="1">
                <a:latin typeface="Lato" panose="020F0502020204030203" pitchFamily="34" charset="0"/>
              </a:rPr>
              <a:t>menulis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buku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dengan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judul</a:t>
            </a:r>
            <a:r>
              <a:rPr lang="en-US" altLang="en-US" sz="1800" dirty="0">
                <a:latin typeface="Lato" panose="020F0502020204030203" pitchFamily="34" charset="0"/>
              </a:rPr>
              <a:t> Al Jabar </a:t>
            </a:r>
            <a:r>
              <a:rPr lang="en-US" altLang="en-US" sz="1800" dirty="0" err="1">
                <a:latin typeface="Lato" panose="020F0502020204030203" pitchFamily="34" charset="0"/>
              </a:rPr>
              <a:t>wal-Muqabala</a:t>
            </a:r>
            <a:r>
              <a:rPr lang="en-US" altLang="en-US" sz="1800" dirty="0">
                <a:latin typeface="Lato" panose="020F0502020204030203" pitchFamily="34" charset="0"/>
              </a:rPr>
              <a:t> yang </a:t>
            </a:r>
            <a:r>
              <a:rPr lang="en-US" altLang="en-US" sz="1800" dirty="0" err="1">
                <a:latin typeface="Lato" panose="020F0502020204030203" pitchFamily="34" charset="0"/>
              </a:rPr>
              <a:t>artinya</a:t>
            </a:r>
            <a:r>
              <a:rPr lang="en-US" altLang="en-US" sz="1800" dirty="0">
                <a:latin typeface="Lato" panose="020F0502020204030203" pitchFamily="34" charset="0"/>
              </a:rPr>
              <a:t> `</a:t>
            </a:r>
            <a:r>
              <a:rPr lang="en-US" altLang="en-US" sz="1800" dirty="0" err="1">
                <a:latin typeface="Lato" panose="020F0502020204030203" pitchFamily="34" charset="0"/>
              </a:rPr>
              <a:t>Buku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Pemugaran</a:t>
            </a:r>
            <a:r>
              <a:rPr lang="en-US" altLang="en-US" sz="1800" dirty="0">
                <a:latin typeface="Lato" panose="020F0502020204030203" pitchFamily="34" charset="0"/>
              </a:rPr>
              <a:t> dan </a:t>
            </a:r>
            <a:r>
              <a:rPr lang="en-US" altLang="en-US" sz="1800" dirty="0" err="1">
                <a:latin typeface="Lato" panose="020F0502020204030203" pitchFamily="34" charset="0"/>
              </a:rPr>
              <a:t>Pengurangan</a:t>
            </a:r>
            <a:r>
              <a:rPr lang="en-US" altLang="en-US" sz="1800" dirty="0">
                <a:latin typeface="Lato" panose="020F0502020204030203" pitchFamily="34" charset="0"/>
              </a:rPr>
              <a:t>` (The book of Restoration and Reduction)</a:t>
            </a:r>
          </a:p>
          <a:p>
            <a:pPr algn="just" eaLnBrk="1" hangingPunct="1">
              <a:buFontTx/>
              <a:buNone/>
            </a:pPr>
            <a:r>
              <a:rPr lang="en-US" altLang="en-US" sz="1800" dirty="0">
                <a:latin typeface="Lato" panose="020F0502020204030203" pitchFamily="34" charset="0"/>
              </a:rPr>
              <a:t>Dari </a:t>
            </a:r>
            <a:r>
              <a:rPr lang="en-US" altLang="en-US" sz="1800" dirty="0" err="1">
                <a:latin typeface="Lato" panose="020F0502020204030203" pitchFamily="34" charset="0"/>
              </a:rPr>
              <a:t>judul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buku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tersebut</a:t>
            </a:r>
            <a:r>
              <a:rPr lang="en-US" altLang="en-US" sz="1800" dirty="0">
                <a:latin typeface="Lato" panose="020F0502020204030203" pitchFamily="34" charset="0"/>
              </a:rPr>
              <a:t>, </a:t>
            </a:r>
            <a:r>
              <a:rPr lang="en-US" altLang="en-US" sz="1800" dirty="0" err="1">
                <a:latin typeface="Lato" panose="020F0502020204030203" pitchFamily="34" charset="0"/>
              </a:rPr>
              <a:t>kita</a:t>
            </a:r>
            <a:r>
              <a:rPr lang="en-US" altLang="en-US" sz="1800" dirty="0">
                <a:latin typeface="Lato" panose="020F0502020204030203" pitchFamily="34" charset="0"/>
              </a:rPr>
              <a:t> juga </a:t>
            </a:r>
            <a:r>
              <a:rPr lang="en-US" altLang="en-US" sz="1800" dirty="0" err="1">
                <a:latin typeface="Lato" panose="020F0502020204030203" pitchFamily="34" charset="0"/>
              </a:rPr>
              <a:t>memperoleh</a:t>
            </a:r>
            <a:r>
              <a:rPr lang="en-US" altLang="en-US" sz="1800" dirty="0">
                <a:latin typeface="Lato" panose="020F0502020204030203" pitchFamily="34" charset="0"/>
              </a:rPr>
              <a:t> kata “</a:t>
            </a:r>
            <a:r>
              <a:rPr lang="en-US" altLang="en-US" sz="1800" dirty="0" err="1">
                <a:latin typeface="Lato" panose="020F0502020204030203" pitchFamily="34" charset="0"/>
              </a:rPr>
              <a:t>aljabar</a:t>
            </a:r>
            <a:r>
              <a:rPr lang="en-US" altLang="en-US" sz="1800" dirty="0">
                <a:latin typeface="Lato" panose="020F0502020204030203" pitchFamily="34" charset="0"/>
              </a:rPr>
              <a:t>” </a:t>
            </a:r>
            <a:r>
              <a:rPr lang="en-US" altLang="en-US" sz="1800" dirty="0" err="1">
                <a:latin typeface="Lato" panose="020F0502020204030203" pitchFamily="34" charset="0"/>
              </a:rPr>
              <a:t>atau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biasa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dikenal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dengan</a:t>
            </a:r>
            <a:r>
              <a:rPr lang="en-US" altLang="en-US" sz="1800" dirty="0">
                <a:latin typeface="Lato" panose="020F0502020204030203" pitchFamily="34" charset="0"/>
              </a:rPr>
              <a:t> algebra. Al-Khwarizmi </a:t>
            </a:r>
            <a:r>
              <a:rPr lang="en-US" altLang="en-US" sz="1800" dirty="0" err="1">
                <a:latin typeface="Lato" panose="020F0502020204030203" pitchFamily="34" charset="0"/>
              </a:rPr>
              <a:t>biasa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dirty="0" err="1">
                <a:latin typeface="Lato" panose="020F0502020204030203" pitchFamily="34" charset="0"/>
              </a:rPr>
              <a:t>dibaca</a:t>
            </a:r>
            <a:r>
              <a:rPr lang="en-US" altLang="en-US" sz="1800" dirty="0">
                <a:latin typeface="Lato" panose="020F0502020204030203" pitchFamily="34" charset="0"/>
              </a:rPr>
              <a:t>/</a:t>
            </a:r>
            <a:r>
              <a:rPr lang="en-US" altLang="en-US" sz="1800" dirty="0" err="1">
                <a:latin typeface="Lato" panose="020F0502020204030203" pitchFamily="34" charset="0"/>
              </a:rPr>
              <a:t>disebut</a:t>
            </a:r>
            <a:r>
              <a:rPr lang="en-US" altLang="en-US" sz="1800" dirty="0">
                <a:latin typeface="Lato" panose="020F0502020204030203" pitchFamily="34" charset="0"/>
              </a:rPr>
              <a:t> oleh orang barat </a:t>
            </a:r>
            <a:r>
              <a:rPr lang="en-US" altLang="en-US" sz="1800" dirty="0" err="1">
                <a:latin typeface="Lato" panose="020F0502020204030203" pitchFamily="34" charset="0"/>
              </a:rPr>
              <a:t>menjadi</a:t>
            </a:r>
            <a:r>
              <a:rPr lang="en-US" altLang="en-US" sz="1800" dirty="0">
                <a:latin typeface="Lato" panose="020F0502020204030203" pitchFamily="34" charset="0"/>
              </a:rPr>
              <a:t> </a:t>
            </a:r>
            <a:r>
              <a:rPr lang="en-US" altLang="en-US" sz="1800" i="1" dirty="0">
                <a:latin typeface="Lato" panose="020F0502020204030203" pitchFamily="34" charset="0"/>
              </a:rPr>
              <a:t>Algorism</a:t>
            </a:r>
            <a:r>
              <a:rPr lang="en-US" altLang="en-US" sz="1800" dirty="0">
                <a:latin typeface="Lato" panose="020F050202020403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A27A9-B359-6692-F0F7-75AEA467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332" y="1436978"/>
            <a:ext cx="2193099" cy="140011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326F1-8F54-656D-53BC-534408729E00}"/>
              </a:ext>
            </a:extLst>
          </p:cNvPr>
          <p:cNvSpPr txBox="1"/>
          <p:nvPr/>
        </p:nvSpPr>
        <p:spPr>
          <a:xfrm>
            <a:off x="6734332" y="2906669"/>
            <a:ext cx="2193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Tx/>
              <a:buNone/>
            </a:pPr>
            <a:r>
              <a:rPr lang="en-US" altLang="en-US" sz="1200" i="1" dirty="0">
                <a:latin typeface="Lato" panose="020F0502020204030203" pitchFamily="34" charset="0"/>
              </a:rPr>
              <a:t>Abu Abdullah Ibnu Musa al-</a:t>
            </a:r>
            <a:r>
              <a:rPr lang="en-US" altLang="en-US" sz="1200" i="1" dirty="0" err="1">
                <a:latin typeface="Lato" panose="020F0502020204030203" pitchFamily="34" charset="0"/>
              </a:rPr>
              <a:t>Khawarizmi</a:t>
            </a:r>
            <a:r>
              <a:rPr lang="en-US" altLang="en-US" sz="1200" i="1" dirty="0">
                <a:latin typeface="Lato" panose="020F0502020204030203" pitchFamily="34" charset="0"/>
              </a:rPr>
              <a:t> (770M s/d 840M) </a:t>
            </a:r>
            <a:r>
              <a:rPr lang="en-US" altLang="en-US" sz="1200" i="1" dirty="0" err="1">
                <a:latin typeface="Lato" panose="020F0502020204030203" pitchFamily="34" charset="0"/>
              </a:rPr>
              <a:t>lahir</a:t>
            </a:r>
            <a:r>
              <a:rPr lang="en-US" altLang="en-US" sz="1200" i="1" dirty="0">
                <a:latin typeface="Lato" panose="020F0502020204030203" pitchFamily="34" charset="0"/>
              </a:rPr>
              <a:t> di </a:t>
            </a:r>
            <a:r>
              <a:rPr lang="en-US" altLang="en-US" sz="1200" i="1" dirty="0" err="1">
                <a:latin typeface="Lato" panose="020F0502020204030203" pitchFamily="34" charset="0"/>
              </a:rPr>
              <a:t>Khawarizm</a:t>
            </a:r>
            <a:r>
              <a:rPr lang="en-US" altLang="en-US" sz="1200" i="1" dirty="0">
                <a:latin typeface="Lato" panose="020F0502020204030203" pitchFamily="34" charset="0"/>
              </a:rPr>
              <a:t> (</a:t>
            </a:r>
            <a:r>
              <a:rPr lang="en-US" altLang="en-US" sz="1200" i="1" dirty="0" err="1">
                <a:latin typeface="Lato" panose="020F0502020204030203" pitchFamily="34" charset="0"/>
              </a:rPr>
              <a:t>Kheva</a:t>
            </a:r>
            <a:r>
              <a:rPr lang="en-US" altLang="en-US" sz="1200" i="1" dirty="0">
                <a:latin typeface="Lato" panose="020F0502020204030203" pitchFamily="34" charset="0"/>
              </a:rPr>
              <a:t>), </a:t>
            </a:r>
            <a:r>
              <a:rPr lang="en-US" altLang="en-US" sz="1200" i="1" dirty="0" err="1">
                <a:latin typeface="Lato" panose="020F0502020204030203" pitchFamily="34" charset="0"/>
              </a:rPr>
              <a:t>kota</a:t>
            </a:r>
            <a:r>
              <a:rPr lang="en-US" altLang="en-US" sz="1200" i="1" dirty="0">
                <a:latin typeface="Lato" panose="020F0502020204030203" pitchFamily="34" charset="0"/>
              </a:rPr>
              <a:t> yang </a:t>
            </a:r>
            <a:r>
              <a:rPr lang="en-US" altLang="en-US" sz="1200" i="1" dirty="0" err="1">
                <a:latin typeface="Lato" panose="020F0502020204030203" pitchFamily="34" charset="0"/>
              </a:rPr>
              <a:t>berada</a:t>
            </a:r>
            <a:r>
              <a:rPr lang="en-US" altLang="en-US" sz="1200" i="1" dirty="0">
                <a:latin typeface="Lato" panose="020F0502020204030203" pitchFamily="34" charset="0"/>
              </a:rPr>
              <a:t> di </a:t>
            </a:r>
            <a:r>
              <a:rPr lang="en-US" altLang="en-US" sz="1200" i="1" dirty="0" err="1">
                <a:latin typeface="Lato" panose="020F0502020204030203" pitchFamily="34" charset="0"/>
              </a:rPr>
              <a:t>selatan</a:t>
            </a:r>
            <a:r>
              <a:rPr lang="en-US" altLang="en-US" sz="1200" i="1" dirty="0">
                <a:latin typeface="Lato" panose="020F0502020204030203" pitchFamily="34" charset="0"/>
              </a:rPr>
              <a:t> Sungai Oxus (</a:t>
            </a:r>
            <a:r>
              <a:rPr lang="en-US" altLang="en-US" sz="1200" i="1" dirty="0" err="1">
                <a:latin typeface="Lato" panose="020F0502020204030203" pitchFamily="34" charset="0"/>
              </a:rPr>
              <a:t>sekarang</a:t>
            </a:r>
            <a:r>
              <a:rPr lang="en-US" altLang="en-US" sz="1200" i="1" dirty="0">
                <a:latin typeface="Lato" panose="020F0502020204030203" pitchFamily="34" charset="0"/>
              </a:rPr>
              <a:t> </a:t>
            </a:r>
            <a:r>
              <a:rPr lang="en-US" altLang="en-US" sz="1200" i="1" dirty="0" err="1">
                <a:latin typeface="Lato" panose="020F0502020204030203" pitchFamily="34" charset="0"/>
              </a:rPr>
              <a:t>disebut</a:t>
            </a:r>
            <a:r>
              <a:rPr lang="en-US" altLang="en-US" sz="1200" i="1" dirty="0">
                <a:latin typeface="Lato" panose="020F0502020204030203" pitchFamily="34" charset="0"/>
              </a:rPr>
              <a:t> Uzbekistan) pada 770 M. 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151DF889-68A3-F429-4B41-314F9AB56FF9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481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00163" y="779564"/>
            <a:ext cx="7843837" cy="422071"/>
          </a:xfrm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b="1" spc="-11" dirty="0">
                <a:solidFill>
                  <a:schemeClr val="accent1"/>
                </a:solidFill>
              </a:rPr>
              <a:t>Konsep </a:t>
            </a:r>
            <a:r>
              <a:rPr b="1" spc="-4" dirty="0">
                <a:solidFill>
                  <a:schemeClr val="accent1"/>
                </a:solidFill>
              </a:rPr>
              <a:t>Dasar</a:t>
            </a:r>
            <a:r>
              <a:rPr b="1" spc="11" dirty="0">
                <a:solidFill>
                  <a:schemeClr val="accent1"/>
                </a:solidFill>
              </a:rPr>
              <a:t> </a:t>
            </a:r>
            <a:r>
              <a:rPr b="1" spc="-8" dirty="0">
                <a:solidFill>
                  <a:schemeClr val="accent1"/>
                </a:solidFill>
              </a:rPr>
              <a:t>Algoritma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085" y="1314451"/>
            <a:ext cx="7770019" cy="3117038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Dalam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merancang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sebuah algoritma, Fletcher (1991) memberikan 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beberapa </a:t>
            </a:r>
            <a:r>
              <a:rPr sz="2000" spc="-11" dirty="0">
                <a:solidFill>
                  <a:srgbClr val="171616"/>
                </a:solidFill>
                <a:latin typeface="Lato"/>
                <a:cs typeface="Lato"/>
              </a:rPr>
              <a:t>cara </a:t>
            </a: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atau metode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yaitu kumpulan </a:t>
            </a: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perintah,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ekspresi,  tabel </a:t>
            </a: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intruksi,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program </a:t>
            </a:r>
            <a:r>
              <a:rPr lang="en-US" sz="2000" spc="-15" dirty="0" err="1">
                <a:solidFill>
                  <a:srgbClr val="171616"/>
                </a:solidFill>
                <a:latin typeface="Lato"/>
                <a:cs typeface="Lato"/>
              </a:rPr>
              <a:t>k</a:t>
            </a:r>
            <a:r>
              <a:rPr sz="2000" spc="-15" dirty="0" err="1">
                <a:solidFill>
                  <a:srgbClr val="171616"/>
                </a:solidFill>
                <a:latin typeface="Lato"/>
                <a:cs typeface="Lato"/>
              </a:rPr>
              <a:t>omputer</a:t>
            </a:r>
            <a:r>
              <a:rPr sz="2000" spc="-15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sz="2000" spc="-19" dirty="0">
                <a:solidFill>
                  <a:srgbClr val="171616"/>
                </a:solidFill>
                <a:latin typeface="Lato"/>
                <a:cs typeface="Lato"/>
              </a:rPr>
              <a:t>kode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semu, dan flow </a:t>
            </a: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chart, </a:t>
            </a:r>
            <a:endParaRPr lang="en-US" sz="2000" dirty="0">
              <a:solidFill>
                <a:srgbClr val="171616"/>
              </a:solidFill>
              <a:latin typeface="Lato"/>
              <a:cs typeface="Lato"/>
            </a:endParaRP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171616"/>
              </a:solidFill>
              <a:latin typeface="Lato"/>
              <a:cs typeface="Lato"/>
            </a:endParaRPr>
          </a:p>
          <a:p>
            <a:pPr marL="352425" marR="3810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ü"/>
            </a:pP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Knuth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(1973)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menyarankan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algoritma </a:t>
            </a:r>
            <a:r>
              <a:rPr sz="2000" dirty="0">
                <a:solidFill>
                  <a:srgbClr val="171616"/>
                </a:solidFill>
                <a:latin typeface="Lato"/>
                <a:cs typeface="Lato"/>
              </a:rPr>
              <a:t>fundamental 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untuk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keperluan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matematika dan 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program </a:t>
            </a:r>
            <a:r>
              <a:rPr sz="2000" spc="-15" dirty="0">
                <a:solidFill>
                  <a:srgbClr val="171616"/>
                </a:solidFill>
                <a:latin typeface="Lato"/>
                <a:cs typeface="Lato"/>
              </a:rPr>
              <a:t>computer,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metode yang  sering digunakan</a:t>
            </a:r>
            <a:r>
              <a:rPr sz="2000" spc="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000" spc="-4" dirty="0" err="1">
                <a:solidFill>
                  <a:srgbClr val="171616"/>
                </a:solidFill>
                <a:latin typeface="Lato"/>
                <a:cs typeface="Lato"/>
              </a:rPr>
              <a:t>yaitu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:</a:t>
            </a:r>
            <a:endParaRPr lang="en-US" sz="2000" dirty="0">
              <a:latin typeface="Lato"/>
              <a:cs typeface="Lato"/>
            </a:endParaRPr>
          </a:p>
          <a:p>
            <a:pPr marL="800100" marR="3810" lvl="4" indent="-342900" algn="just">
              <a:lnSpc>
                <a:spcPct val="90000"/>
              </a:lnSpc>
              <a:spcBef>
                <a:spcPts val="326"/>
              </a:spcBef>
              <a:buFont typeface="Wingdings" panose="05000000000000000000" pitchFamily="2" charset="2"/>
              <a:buChar char="§"/>
            </a:pP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Diagram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Alir (Flow</a:t>
            </a:r>
            <a:r>
              <a:rPr sz="2000" spc="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chart)</a:t>
            </a:r>
            <a:endParaRPr sz="2000" dirty="0">
              <a:latin typeface="Lato"/>
              <a:cs typeface="Lato"/>
            </a:endParaRPr>
          </a:p>
          <a:p>
            <a:pPr marL="800100" lvl="5" indent="-342900">
              <a:spcBef>
                <a:spcPts val="495"/>
              </a:spcBef>
              <a:buFont typeface="Wingdings" panose="05000000000000000000" pitchFamily="2" charset="2"/>
              <a:buChar char="§"/>
            </a:pPr>
            <a:r>
              <a:rPr sz="2000" spc="-11" dirty="0">
                <a:solidFill>
                  <a:srgbClr val="171616"/>
                </a:solidFill>
                <a:latin typeface="Lato"/>
                <a:cs typeface="Lato"/>
              </a:rPr>
              <a:t>Kode </a:t>
            </a: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Semu (Pseudo</a:t>
            </a:r>
            <a:r>
              <a:rPr sz="2000" spc="3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000" spc="-11" dirty="0">
                <a:solidFill>
                  <a:srgbClr val="171616"/>
                </a:solidFill>
                <a:latin typeface="Lato"/>
                <a:cs typeface="Lato"/>
              </a:rPr>
              <a:t>Code)</a:t>
            </a:r>
            <a:endParaRPr sz="2000" dirty="0">
              <a:latin typeface="Lato"/>
              <a:cs typeface="Lato"/>
            </a:endParaRPr>
          </a:p>
          <a:p>
            <a:pPr marL="800100" lvl="5" indent="-342900">
              <a:spcBef>
                <a:spcPts val="495"/>
              </a:spcBef>
              <a:buFont typeface="Wingdings" panose="05000000000000000000" pitchFamily="2" charset="2"/>
              <a:buChar char="§"/>
            </a:pPr>
            <a:r>
              <a:rPr sz="2000" spc="-4" dirty="0">
                <a:solidFill>
                  <a:srgbClr val="171616"/>
                </a:solidFill>
                <a:latin typeface="Lato"/>
                <a:cs typeface="Lato"/>
              </a:rPr>
              <a:t>Algoritma</a:t>
            </a:r>
            <a:r>
              <a:rPr sz="2000" spc="-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000" spc="-11" dirty="0">
                <a:solidFill>
                  <a:srgbClr val="171616"/>
                </a:solidFill>
                <a:latin typeface="Lato"/>
                <a:cs typeface="Lato"/>
              </a:rPr>
              <a:t>Fundamental</a:t>
            </a:r>
            <a:endParaRPr sz="2000" dirty="0">
              <a:latin typeface="Lato"/>
              <a:cs typeface="La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B9BA2-28D0-DAF9-EABF-1CE9E49D4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1" y="3577391"/>
            <a:ext cx="1485899" cy="1573089"/>
          </a:xfrm>
          <a:prstGeom prst="rect">
            <a:avLst/>
          </a:prstGeom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55C25F9C-EEC6-D3D8-4522-ECF5F13833DD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11" dirty="0"/>
              <a:t>Diagram </a:t>
            </a:r>
            <a:r>
              <a:rPr spc="-4" dirty="0"/>
              <a:t>Alir (Flow</a:t>
            </a:r>
            <a:r>
              <a:rPr spc="15" dirty="0"/>
              <a:t> </a:t>
            </a:r>
            <a:r>
              <a:rPr spc="-4" dirty="0"/>
              <a:t>chart)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1512246"/>
            <a:ext cx="5313046" cy="2196787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80975" marR="4763" indent="-171450" algn="just">
              <a:lnSpc>
                <a:spcPct val="90000"/>
              </a:lnSpc>
              <a:spcBef>
                <a:spcPts val="326"/>
              </a:spcBef>
              <a:buFont typeface="Arial"/>
              <a:buChar char="•"/>
              <a:tabLst>
                <a:tab pos="180975" algn="l"/>
              </a:tabLst>
            </a:pPr>
            <a:r>
              <a:rPr lang="en-US" sz="2100" dirty="0" err="1">
                <a:solidFill>
                  <a:srgbClr val="171616"/>
                </a:solidFill>
                <a:latin typeface="Lato"/>
                <a:cs typeface="Lato"/>
              </a:rPr>
              <a:t>S</a:t>
            </a:r>
            <a:r>
              <a:rPr sz="2100" dirty="0" err="1">
                <a:solidFill>
                  <a:srgbClr val="171616"/>
                </a:solidFill>
                <a:latin typeface="Lato"/>
                <a:cs typeface="Lato"/>
              </a:rPr>
              <a:t>uatu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representasi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secara diagram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yang 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mengiluatrasikan urutan dari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operasi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yang dilakukan untuk  mendapatkan suatu</a:t>
            </a:r>
            <a:r>
              <a:rPr sz="2100" spc="45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hasil.</a:t>
            </a:r>
            <a:endParaRPr sz="2100" dirty="0">
              <a:latin typeface="Lato"/>
              <a:cs typeface="Lato"/>
            </a:endParaRPr>
          </a:p>
          <a:p>
            <a:pPr marL="180975" marR="3810" indent="-171450" algn="just">
              <a:lnSpc>
                <a:spcPts val="2273"/>
              </a:lnSpc>
              <a:spcBef>
                <a:spcPts val="784"/>
              </a:spcBef>
              <a:buFont typeface="Arial"/>
              <a:buChar char="•"/>
              <a:tabLst>
                <a:tab pos="180975" algn="l"/>
              </a:tabLst>
            </a:pPr>
            <a:r>
              <a:rPr lang="en-US" sz="2100" spc="-4" dirty="0" err="1">
                <a:solidFill>
                  <a:srgbClr val="171616"/>
                </a:solidFill>
                <a:latin typeface="Lato"/>
                <a:cs typeface="Lato"/>
              </a:rPr>
              <a:t>M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embantu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100" spc="-4" dirty="0" err="1">
                <a:solidFill>
                  <a:srgbClr val="171616"/>
                </a:solidFill>
                <a:latin typeface="Lato"/>
                <a:cs typeface="Lato"/>
              </a:rPr>
              <a:t>pembaca</a:t>
            </a:r>
            <a:r>
              <a:rPr lang="en-US" sz="21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dirty="0" err="1">
                <a:solidFill>
                  <a:srgbClr val="171616"/>
                </a:solidFill>
                <a:latin typeface="Lato"/>
                <a:cs typeface="Lato"/>
              </a:rPr>
              <a:t>untuk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mengerti dan 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melihat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bentuk algoritma 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dengan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menampilk</a:t>
            </a:r>
            <a:r>
              <a:rPr lang="en-US" sz="2100" spc="-4" dirty="0" err="1">
                <a:solidFill>
                  <a:srgbClr val="171616"/>
                </a:solidFill>
                <a:latin typeface="Lato"/>
                <a:cs typeface="Lato"/>
              </a:rPr>
              <a:t>a</a:t>
            </a:r>
            <a:r>
              <a:rPr sz="2100" spc="-4" dirty="0" err="1">
                <a:solidFill>
                  <a:srgbClr val="171616"/>
                </a:solidFill>
                <a:latin typeface="Lato"/>
                <a:cs typeface="Lato"/>
              </a:rPr>
              <a:t>n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 algoritma dalam  symbol-simbol</a:t>
            </a:r>
            <a:r>
              <a:rPr sz="2100" spc="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23" dirty="0">
                <a:solidFill>
                  <a:srgbClr val="171616"/>
                </a:solidFill>
                <a:latin typeface="Lato"/>
                <a:cs typeface="Lato"/>
              </a:rPr>
              <a:t>gambar.</a:t>
            </a:r>
            <a:endParaRPr sz="2100" dirty="0">
              <a:latin typeface="Lato"/>
              <a:cs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C53C8D-2DAE-D976-42F5-E6825C028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64770"/>
            <a:ext cx="2641884" cy="50139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15" dirty="0"/>
              <a:t>Kode </a:t>
            </a:r>
            <a:r>
              <a:rPr spc="-8" dirty="0"/>
              <a:t>Semu </a:t>
            </a:r>
            <a:r>
              <a:rPr spc="-4" dirty="0"/>
              <a:t>(Pseudo</a:t>
            </a:r>
            <a:r>
              <a:rPr spc="41" dirty="0"/>
              <a:t> </a:t>
            </a:r>
            <a:r>
              <a:rPr spc="-11" dirty="0"/>
              <a:t>Code)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1512247"/>
            <a:ext cx="6044088" cy="635591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180975" marR="3810" indent="-171450">
              <a:lnSpc>
                <a:spcPts val="2273"/>
              </a:lnSpc>
              <a:spcBef>
                <a:spcPts val="356"/>
              </a:spcBef>
              <a:buFont typeface="Arial"/>
              <a:buChar char="•"/>
              <a:tabLst>
                <a:tab pos="180975" algn="l"/>
                <a:tab pos="1262063" algn="l"/>
                <a:tab pos="2040731" algn="l"/>
                <a:tab pos="3029426" algn="l"/>
                <a:tab pos="4035266" algn="l"/>
                <a:tab pos="4828699" algn="l"/>
              </a:tabLst>
            </a:pP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Pseudo	code	adalah	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urutan	baris	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algoritma 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pemrograman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dan tidak memiliki sintak yang</a:t>
            </a:r>
            <a:r>
              <a:rPr sz="2100" spc="79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baku.</a:t>
            </a:r>
            <a:endParaRPr sz="2100">
              <a:latin typeface="Lato"/>
              <a:cs typeface="La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0283" y="1512246"/>
            <a:ext cx="837248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seper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t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i</a:t>
            </a:r>
            <a:endParaRPr sz="2100">
              <a:latin typeface="Lato"/>
              <a:cs typeface="La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5841" y="1512246"/>
            <a:ext cx="580549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code</a:t>
            </a:r>
            <a:endParaRPr sz="2100">
              <a:latin typeface="Lato"/>
              <a:cs typeface="La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9324" y="2257680"/>
            <a:ext cx="3689509" cy="2286908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80975" indent="-171450">
              <a:spcBef>
                <a:spcPts val="405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Contoh:</a:t>
            </a:r>
            <a:endParaRPr sz="2100" dirty="0">
              <a:latin typeface="Lato"/>
              <a:cs typeface="Lato"/>
            </a:endParaRPr>
          </a:p>
          <a:p>
            <a:pPr marL="9525">
              <a:spcBef>
                <a:spcPts val="334"/>
              </a:spcBef>
            </a:pPr>
            <a:r>
              <a:rPr sz="2000" spc="-8" dirty="0">
                <a:solidFill>
                  <a:srgbClr val="171616"/>
                </a:solidFill>
                <a:latin typeface="Courier New"/>
                <a:cs typeface="Courier New"/>
              </a:rPr>
              <a:t>START</a:t>
            </a:r>
            <a:endParaRPr sz="2000" dirty="0">
              <a:latin typeface="Courier New"/>
              <a:cs typeface="Courier New"/>
            </a:endParaRPr>
          </a:p>
          <a:p>
            <a:pPr marL="9525">
              <a:spcBef>
                <a:spcPts val="506"/>
              </a:spcBef>
            </a:pPr>
            <a:r>
              <a:rPr sz="2000" spc="-8" dirty="0">
                <a:solidFill>
                  <a:srgbClr val="171616"/>
                </a:solidFill>
                <a:latin typeface="Courier New"/>
                <a:cs typeface="Courier New"/>
              </a:rPr>
              <a:t>Masukkan</a:t>
            </a:r>
            <a:r>
              <a:rPr sz="2000" spc="-11" dirty="0">
                <a:solidFill>
                  <a:srgbClr val="171616"/>
                </a:solidFill>
                <a:latin typeface="Courier New"/>
                <a:cs typeface="Courier New"/>
              </a:rPr>
              <a:t> </a:t>
            </a:r>
            <a:r>
              <a:rPr sz="2000" spc="-4" dirty="0">
                <a:solidFill>
                  <a:srgbClr val="171616"/>
                </a:solidFill>
                <a:latin typeface="Courier New"/>
                <a:cs typeface="Courier New"/>
              </a:rPr>
              <a:t>A</a:t>
            </a:r>
            <a:endParaRPr sz="2000" dirty="0">
              <a:latin typeface="Courier New"/>
              <a:cs typeface="Courier New"/>
            </a:endParaRPr>
          </a:p>
          <a:p>
            <a:pPr marL="9525" marR="3810">
              <a:lnSpc>
                <a:spcPct val="119600"/>
              </a:lnSpc>
            </a:pPr>
            <a:r>
              <a:rPr sz="2000" spc="-8" dirty="0">
                <a:solidFill>
                  <a:srgbClr val="171616"/>
                </a:solidFill>
                <a:latin typeface="Courier New"/>
                <a:cs typeface="Courier New"/>
              </a:rPr>
              <a:t>Masukkan B, Tampilkan </a:t>
            </a:r>
            <a:r>
              <a:rPr sz="2000" spc="-4" dirty="0">
                <a:solidFill>
                  <a:srgbClr val="171616"/>
                </a:solidFill>
                <a:latin typeface="Courier New"/>
                <a:cs typeface="Courier New"/>
              </a:rPr>
              <a:t>B  </a:t>
            </a:r>
            <a:r>
              <a:rPr sz="2000" spc="-8" dirty="0">
                <a:solidFill>
                  <a:srgbClr val="171616"/>
                </a:solidFill>
                <a:latin typeface="Courier New"/>
                <a:cs typeface="Courier New"/>
              </a:rPr>
              <a:t>Tampilkan</a:t>
            </a:r>
            <a:r>
              <a:rPr sz="2000" spc="-15" dirty="0">
                <a:solidFill>
                  <a:srgbClr val="171616"/>
                </a:solidFill>
                <a:latin typeface="Courier New"/>
                <a:cs typeface="Courier New"/>
              </a:rPr>
              <a:t> </a:t>
            </a:r>
            <a:r>
              <a:rPr sz="2000" spc="-4" dirty="0">
                <a:solidFill>
                  <a:srgbClr val="171616"/>
                </a:solidFill>
                <a:latin typeface="Courier New"/>
                <a:cs typeface="Courier New"/>
              </a:rPr>
              <a:t>A</a:t>
            </a:r>
            <a:endParaRPr sz="2000" dirty="0">
              <a:latin typeface="Courier New"/>
              <a:cs typeface="Courier New"/>
            </a:endParaRPr>
          </a:p>
          <a:p>
            <a:pPr marL="9525">
              <a:spcBef>
                <a:spcPts val="506"/>
              </a:spcBef>
            </a:pPr>
            <a:r>
              <a:rPr sz="2000" spc="-4" dirty="0">
                <a:solidFill>
                  <a:srgbClr val="171616"/>
                </a:solidFill>
                <a:latin typeface="Courier New"/>
                <a:cs typeface="Courier New"/>
              </a:rPr>
              <a:t>End.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1ECF3-7243-A025-BA35-C05EB54CE859}"/>
              </a:ext>
            </a:extLst>
          </p:cNvPr>
          <p:cNvSpPr txBox="1"/>
          <p:nvPr/>
        </p:nvSpPr>
        <p:spPr>
          <a:xfrm>
            <a:off x="628650" y="2286000"/>
            <a:ext cx="377190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171616"/>
                </a:solidFill>
                <a:latin typeface="Lato"/>
                <a:cs typeface="Lato"/>
              </a:rPr>
              <a:t>Struktur</a:t>
            </a:r>
            <a:r>
              <a:rPr lang="en-US" sz="1800" dirty="0">
                <a:solidFill>
                  <a:srgbClr val="171616"/>
                </a:solidFill>
                <a:latin typeface="Lato"/>
                <a:cs typeface="Lato"/>
              </a:rPr>
              <a:t>:</a:t>
            </a:r>
            <a:endParaRPr lang="en-US" sz="1800" dirty="0">
              <a:latin typeface="Lato"/>
              <a:cs typeface="Lato"/>
            </a:endParaRPr>
          </a:p>
          <a:p>
            <a:endParaRPr lang="en-US" sz="1050" i="1" dirty="0">
              <a:solidFill>
                <a:srgbClr val="072336"/>
              </a:solidFill>
              <a:latin typeface="Inter"/>
            </a:endParaRPr>
          </a:p>
          <a:p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Judul</a:t>
            </a:r>
            <a:br>
              <a:rPr lang="en-US" sz="1500" i="1" dirty="0">
                <a:solidFill>
                  <a:srgbClr val="072336"/>
                </a:solidFill>
                <a:latin typeface="Inter"/>
              </a:rPr>
            </a:br>
            <a:r>
              <a:rPr lang="en-US" sz="1500" i="1" dirty="0">
                <a:solidFill>
                  <a:srgbClr val="072336"/>
                </a:solidFill>
                <a:latin typeface="Inter"/>
              </a:rPr>
              <a:t>{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Berisi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Judul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Algoritma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}</a:t>
            </a:r>
            <a:br>
              <a:rPr lang="en-US" sz="1500" i="1" dirty="0">
                <a:solidFill>
                  <a:srgbClr val="072336"/>
                </a:solidFill>
                <a:latin typeface="Inter"/>
              </a:rPr>
            </a:b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Deskripsi</a:t>
            </a:r>
            <a:br>
              <a:rPr lang="en-US" sz="1500" i="1" dirty="0">
                <a:solidFill>
                  <a:srgbClr val="072336"/>
                </a:solidFill>
                <a:latin typeface="Inter"/>
              </a:rPr>
            </a:br>
            <a:r>
              <a:rPr lang="en-US" sz="1500" i="1" dirty="0">
                <a:solidFill>
                  <a:srgbClr val="072336"/>
                </a:solidFill>
                <a:latin typeface="Inter"/>
              </a:rPr>
              <a:t>{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Berisi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Deklarasi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Variabel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atau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Konstantan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}</a:t>
            </a:r>
            <a:br>
              <a:rPr lang="en-US" sz="1500" i="1" dirty="0">
                <a:solidFill>
                  <a:srgbClr val="072336"/>
                </a:solidFill>
                <a:latin typeface="Inter"/>
              </a:rPr>
            </a:b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Implementasi</a:t>
            </a:r>
            <a:br>
              <a:rPr lang="en-US" sz="1500" i="1" dirty="0">
                <a:solidFill>
                  <a:srgbClr val="072336"/>
                </a:solidFill>
                <a:latin typeface="Inter"/>
              </a:rPr>
            </a:br>
            <a:r>
              <a:rPr lang="en-US" sz="1500" i="1" dirty="0">
                <a:solidFill>
                  <a:srgbClr val="072336"/>
                </a:solidFill>
                <a:latin typeface="Inter"/>
              </a:rPr>
              <a:t>{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Berisi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 Inti </a:t>
            </a:r>
            <a:r>
              <a:rPr lang="en-US" sz="1500" i="1" dirty="0" err="1">
                <a:solidFill>
                  <a:srgbClr val="072336"/>
                </a:solidFill>
                <a:latin typeface="Inter"/>
              </a:rPr>
              <a:t>Algoritma</a:t>
            </a:r>
            <a:r>
              <a:rPr lang="en-US" sz="1500" i="1" dirty="0">
                <a:solidFill>
                  <a:srgbClr val="072336"/>
                </a:solidFill>
                <a:latin typeface="Inter"/>
              </a:rPr>
              <a:t>}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751448-F408-8094-FDC2-2E9B433D2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481" y="3714750"/>
            <a:ext cx="1218440" cy="1208411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22980F83-50C2-6BA5-272F-BBEF4EDC408C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00163" y="779463"/>
            <a:ext cx="7843837" cy="422275"/>
          </a:xfrm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11" dirty="0" err="1">
                <a:solidFill>
                  <a:schemeClr val="accent1"/>
                </a:solidFill>
              </a:rPr>
              <a:t>Komponen</a:t>
            </a:r>
            <a:r>
              <a:rPr lang="en-US" spc="-11" dirty="0">
                <a:solidFill>
                  <a:schemeClr val="accent1"/>
                </a:solidFill>
              </a:rPr>
              <a:t>/Ciri-</a:t>
            </a:r>
            <a:r>
              <a:rPr lang="en-US" spc="-11" dirty="0" err="1">
                <a:solidFill>
                  <a:schemeClr val="accent1"/>
                </a:solidFill>
              </a:rPr>
              <a:t>ciri</a:t>
            </a:r>
            <a:r>
              <a:rPr spc="-8" dirty="0">
                <a:solidFill>
                  <a:schemeClr val="accent1"/>
                </a:solidFill>
              </a:rPr>
              <a:t> </a:t>
            </a:r>
            <a:r>
              <a:rPr spc="-4" dirty="0">
                <a:solidFill>
                  <a:schemeClr val="accent1"/>
                </a:solidFill>
              </a:rPr>
              <a:t>Algoritma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293" y="1394378"/>
            <a:ext cx="7770019" cy="291137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9525" marR="3810" algn="just">
              <a:lnSpc>
                <a:spcPct val="90000"/>
              </a:lnSpc>
              <a:spcBef>
                <a:spcPts val="326"/>
              </a:spcBef>
            </a:pP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Knuth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(1973) menyatakan 5 </a:t>
            </a:r>
            <a:r>
              <a:rPr sz="1800" spc="-11" dirty="0">
                <a:solidFill>
                  <a:srgbClr val="171616"/>
                </a:solidFill>
                <a:latin typeface="Lato"/>
                <a:cs typeface="Lato"/>
              </a:rPr>
              <a:t>komponen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utama </a:t>
            </a:r>
            <a:r>
              <a:rPr sz="1800" dirty="0" err="1">
                <a:solidFill>
                  <a:srgbClr val="171616"/>
                </a:solidFill>
                <a:latin typeface="Lato"/>
                <a:cs typeface="Lato"/>
              </a:rPr>
              <a:t>dalam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1800" dirty="0" err="1">
                <a:solidFill>
                  <a:srgbClr val="171616"/>
                </a:solidFill>
                <a:latin typeface="Lato"/>
                <a:cs typeface="Lato"/>
              </a:rPr>
              <a:t>algoritm</a:t>
            </a:r>
            <a:r>
              <a:rPr lang="en-US" sz="1800" dirty="0" err="1">
                <a:solidFill>
                  <a:srgbClr val="171616"/>
                </a:solidFill>
                <a:latin typeface="Lato"/>
                <a:cs typeface="Lato"/>
              </a:rPr>
              <a:t>a</a:t>
            </a:r>
            <a:endParaRPr lang="en-US" sz="1800" spc="-4" dirty="0">
              <a:solidFill>
                <a:srgbClr val="171616"/>
              </a:solidFill>
              <a:latin typeface="Lato"/>
              <a:cs typeface="La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4B8F8-7F30-3AD9-6E67-754B05D3C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578" y="4414335"/>
            <a:ext cx="613364" cy="63950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70A63E4-E9D0-1246-7DFC-D780A3B0E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7268073"/>
              </p:ext>
            </p:extLst>
          </p:nvPr>
        </p:nvGraphicFramePr>
        <p:xfrm>
          <a:off x="826128" y="1858077"/>
          <a:ext cx="3839657" cy="3049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15">
            <a:extLst>
              <a:ext uri="{FF2B5EF4-FFF2-40B4-BE49-F238E27FC236}">
                <a16:creationId xmlns:a16="http://schemas.microsoft.com/office/drawing/2014/main" id="{2D820CA5-1806-16E8-FD93-1D8BB730A3CB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F04CC-35F4-A539-C540-F8E93296093B}"/>
              </a:ext>
            </a:extLst>
          </p:cNvPr>
          <p:cNvSpPr txBox="1"/>
          <p:nvPr/>
        </p:nvSpPr>
        <p:spPr>
          <a:xfrm>
            <a:off x="4865354" y="1917253"/>
            <a:ext cx="374587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marR="3810" algn="just">
              <a:lnSpc>
                <a:spcPct val="90000"/>
              </a:lnSpc>
              <a:spcBef>
                <a:spcPts val="326"/>
              </a:spcBef>
            </a:pP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Algoritma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sebuah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akhir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, yang juga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menandakan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bahwa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langkah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dan proses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tersebut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telah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dikerjakan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maupun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terselesaikan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B5BEB-C1A1-21CB-EF3A-A3C5174D0C63}"/>
              </a:ext>
            </a:extLst>
          </p:cNvPr>
          <p:cNvSpPr txBox="1"/>
          <p:nvPr/>
        </p:nvSpPr>
        <p:spPr>
          <a:xfrm>
            <a:off x="4878682" y="2572357"/>
            <a:ext cx="3884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Tidak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hanya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akhir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algoritma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juga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harus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memiliki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definisi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yang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tepat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Kenapa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harus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tepat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? Karena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apabila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definisinya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ganda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,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maka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suatu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tugas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tidak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akan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terselesaikan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dengan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200" spc="-4" dirty="0" err="1">
                <a:solidFill>
                  <a:srgbClr val="171616"/>
                </a:solidFill>
                <a:latin typeface="Lato"/>
                <a:cs typeface="Lato"/>
              </a:rPr>
              <a:t>logis</a:t>
            </a:r>
            <a:r>
              <a:rPr lang="en-US" sz="1200" spc="-4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245F-16C4-DC1C-62B8-D63E86E1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Sifat-Sifat </a:t>
            </a:r>
            <a:r>
              <a:rPr lang="en-US" b="1" dirty="0" err="1">
                <a:solidFill>
                  <a:schemeClr val="bg1"/>
                </a:solidFill>
              </a:rPr>
              <a:t>Algoritma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6228-BBE0-50E1-86F4-E3549F47E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568822"/>
            <a:ext cx="7539318" cy="243381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Universal,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algoritma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bisa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digunakan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dan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diterapkan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pada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bahasa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pemrograman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apa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saja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Algoritma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mampu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merepresentasikan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urutan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kejadian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logis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secara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sistematis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dan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efektif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Tidak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ada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keraguan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/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harus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jelas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setiap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langkahnya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Efektivitas</a:t>
            </a:r>
            <a:r>
              <a:rPr lang="en-US" sz="1800" dirty="0">
                <a:solidFill>
                  <a:schemeClr val="bg2"/>
                </a:solidFill>
                <a:latin typeface="Lato" panose="020F0502020204030203" pitchFamily="34" charset="0"/>
              </a:rPr>
              <a:t> &amp; </a:t>
            </a: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efisien</a:t>
            </a:r>
            <a:endParaRPr lang="en-US" sz="1800" dirty="0">
              <a:solidFill>
                <a:schemeClr val="bg2"/>
              </a:solidFill>
              <a:latin typeface="Lato" panose="020F050202020403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2"/>
                </a:solidFill>
                <a:latin typeface="Lato" panose="020F0502020204030203" pitchFamily="34" charset="0"/>
              </a:rPr>
              <a:t>Terstruktur</a:t>
            </a:r>
            <a:endParaRPr lang="en-US" sz="1800" dirty="0">
              <a:solidFill>
                <a:schemeClr val="bg2"/>
              </a:solidFill>
              <a:latin typeface="Lato" panose="020F0502020204030203" pitchFamily="34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88132272-9DCA-BA10-BAAF-F104522FD1AA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17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>
            <a:extLst>
              <a:ext uri="{FF2B5EF4-FFF2-40B4-BE49-F238E27FC236}">
                <a16:creationId xmlns:a16="http://schemas.microsoft.com/office/drawing/2014/main" id="{21455ABD-247D-1DA1-D197-335C71DC7C8D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F8AD0-C8BD-4E19-480C-775931A56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C7D7CFE-48FD-9BE8-7CA9-20729AB19BEF}"/>
              </a:ext>
            </a:extLst>
          </p:cNvPr>
          <p:cNvSpPr txBox="1">
            <a:spLocks/>
          </p:cNvSpPr>
          <p:nvPr/>
        </p:nvSpPr>
        <p:spPr>
          <a:xfrm>
            <a:off x="842963" y="779199"/>
            <a:ext cx="7843837" cy="4220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9049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lang="en-US" b="1" spc="-11" dirty="0" err="1">
                <a:solidFill>
                  <a:schemeClr val="accent1"/>
                </a:solidFill>
              </a:rPr>
              <a:t>Contoh</a:t>
            </a:r>
            <a:r>
              <a:rPr lang="en-US" b="1" spc="-11" dirty="0">
                <a:solidFill>
                  <a:schemeClr val="accent1"/>
                </a:solidFill>
              </a:rPr>
              <a:t> </a:t>
            </a:r>
            <a:r>
              <a:rPr lang="en-US" b="1" spc="-11" dirty="0" err="1">
                <a:solidFill>
                  <a:schemeClr val="accent1"/>
                </a:solidFill>
              </a:rPr>
              <a:t>Kasus</a:t>
            </a:r>
            <a:r>
              <a:rPr lang="en-US" b="1" spc="-11" dirty="0">
                <a:solidFill>
                  <a:schemeClr val="accent1"/>
                </a:solidFill>
              </a:rPr>
              <a:t>:</a:t>
            </a:r>
            <a:endParaRPr lang="en-US" b="1" spc="-8" dirty="0">
              <a:solidFill>
                <a:schemeClr val="accent1"/>
              </a:solidFill>
            </a:endParaRPr>
          </a:p>
        </p:txBody>
      </p:sp>
      <p:pic>
        <p:nvPicPr>
          <p:cNvPr id="12290" name="Picture 2" descr="Universitas Gunadarma regional Depok punya 10 kampus?! Ternyata ini fungsi  dari masing-masing kampus nya!!">
            <a:extLst>
              <a:ext uri="{FF2B5EF4-FFF2-40B4-BE49-F238E27FC236}">
                <a16:creationId xmlns:a16="http://schemas.microsoft.com/office/drawing/2014/main" id="{BE4F4F4F-9141-A0F7-8691-0ED032949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888" y="1350215"/>
            <a:ext cx="1704696" cy="11364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32D507-CB20-F58C-129E-37C5D0EBB9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74" t="26564" r="12912"/>
          <a:stretch/>
        </p:blipFill>
        <p:spPr>
          <a:xfrm>
            <a:off x="1030378" y="1400925"/>
            <a:ext cx="672354" cy="676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6CA27-3735-EB5A-B2E1-E2B251E2AE33}"/>
              </a:ext>
            </a:extLst>
          </p:cNvPr>
          <p:cNvSpPr txBox="1"/>
          <p:nvPr/>
        </p:nvSpPr>
        <p:spPr>
          <a:xfrm>
            <a:off x="777291" y="2117424"/>
            <a:ext cx="1178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 err="1"/>
              <a:t>Rehyan</a:t>
            </a:r>
            <a:r>
              <a:rPr lang="en-US" sz="1100" b="1" dirty="0"/>
              <a:t>,</a:t>
            </a:r>
          </a:p>
          <a:p>
            <a:pPr algn="ctr"/>
            <a:r>
              <a:rPr lang="en-US" sz="1100" b="1"/>
              <a:t>Mahasiswa</a:t>
            </a:r>
            <a:r>
              <a:rPr lang="en-US" sz="1100" b="1" dirty="0"/>
              <a:t> UG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19795-B661-FCA3-BF44-C4D663BF822C}"/>
              </a:ext>
            </a:extLst>
          </p:cNvPr>
          <p:cNvSpPr txBox="1"/>
          <p:nvPr/>
        </p:nvSpPr>
        <p:spPr>
          <a:xfrm>
            <a:off x="2115838" y="2486679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Kampus</a:t>
            </a:r>
            <a:r>
              <a:rPr lang="en-US" b="1" dirty="0"/>
              <a:t> E UG</a:t>
            </a:r>
          </a:p>
        </p:txBody>
      </p:sp>
      <p:pic>
        <p:nvPicPr>
          <p:cNvPr id="12300" name="Picture 12" descr="Bagaimana pendapat kalian tentang Universitas Gunadarma? - Quora">
            <a:extLst>
              <a:ext uri="{FF2B5EF4-FFF2-40B4-BE49-F238E27FC236}">
                <a16:creationId xmlns:a16="http://schemas.microsoft.com/office/drawing/2014/main" id="{06517F59-3BBF-83CB-EDC2-BCF9E00CD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468" y="1255973"/>
            <a:ext cx="2000209" cy="112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B192CD-9818-DBA2-AC83-56A0C8EDE365}"/>
              </a:ext>
            </a:extLst>
          </p:cNvPr>
          <p:cNvSpPr txBox="1"/>
          <p:nvPr/>
        </p:nvSpPr>
        <p:spPr>
          <a:xfrm>
            <a:off x="5957510" y="2437039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Kampus</a:t>
            </a:r>
            <a:r>
              <a:rPr lang="en-US" b="1" dirty="0"/>
              <a:t> D UG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EEB240-1BB6-55EC-7A38-7B15F9923A1C}"/>
              </a:ext>
            </a:extLst>
          </p:cNvPr>
          <p:cNvSpPr/>
          <p:nvPr/>
        </p:nvSpPr>
        <p:spPr>
          <a:xfrm>
            <a:off x="4252532" y="1577788"/>
            <a:ext cx="914400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02" name="Picture 14" descr="Introduction to Problem Solving Skills | CCMIT">
            <a:extLst>
              <a:ext uri="{FF2B5EF4-FFF2-40B4-BE49-F238E27FC236}">
                <a16:creationId xmlns:a16="http://schemas.microsoft.com/office/drawing/2014/main" id="{748A55A3-EF8B-A5E1-0AC0-7294902EE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407" y="4193033"/>
            <a:ext cx="1879336" cy="87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DD302A-6C26-C2F4-9694-92EB7EE4C9F9}"/>
              </a:ext>
            </a:extLst>
          </p:cNvPr>
          <p:cNvSpPr txBox="1"/>
          <p:nvPr/>
        </p:nvSpPr>
        <p:spPr>
          <a:xfrm>
            <a:off x="3346812" y="3271029"/>
            <a:ext cx="3004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Bagaimana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cara</a:t>
            </a:r>
            <a:r>
              <a:rPr lang="en-US" b="1" dirty="0">
                <a:solidFill>
                  <a:schemeClr val="accent1"/>
                </a:solidFill>
              </a:rPr>
              <a:t> yang </a:t>
            </a:r>
            <a:r>
              <a:rPr lang="en-US" b="1" dirty="0" err="1">
                <a:solidFill>
                  <a:schemeClr val="accent1"/>
                </a:solidFill>
              </a:rPr>
              <a:t>terbaik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untuk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sampai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ke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kampus</a:t>
            </a:r>
            <a:r>
              <a:rPr lang="en-US" b="1" dirty="0">
                <a:solidFill>
                  <a:schemeClr val="accent1"/>
                </a:solidFill>
              </a:rPr>
              <a:t> D?</a:t>
            </a:r>
          </a:p>
        </p:txBody>
      </p:sp>
      <p:pic>
        <p:nvPicPr>
          <p:cNvPr id="12308" name="Picture 20" descr="Vocabularies: Sinonim untuk 'Problem">
            <a:extLst>
              <a:ext uri="{FF2B5EF4-FFF2-40B4-BE49-F238E27FC236}">
                <a16:creationId xmlns:a16="http://schemas.microsoft.com/office/drawing/2014/main" id="{55AFBED3-E0D4-7402-B7C4-00D76D525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543" y="3170159"/>
            <a:ext cx="1108262" cy="7912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93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13C59F-3AB1-CAE8-D9C1-11FCAD05E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10A971F-08D5-E5CD-11E7-0B055B144DFF}"/>
              </a:ext>
            </a:extLst>
          </p:cNvPr>
          <p:cNvSpPr txBox="1">
            <a:spLocks/>
          </p:cNvSpPr>
          <p:nvPr/>
        </p:nvSpPr>
        <p:spPr>
          <a:xfrm>
            <a:off x="1300163" y="579510"/>
            <a:ext cx="7843837" cy="8221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9049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 b="0" i="0" u="none" strike="noStrike" cap="none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lang="en-US" b="1" spc="-11" dirty="0">
                <a:solidFill>
                  <a:schemeClr val="accent1"/>
                </a:solidFill>
              </a:rPr>
              <a:t>Langkah yang </a:t>
            </a:r>
            <a:r>
              <a:rPr lang="en-US" b="1" spc="-11" dirty="0" err="1">
                <a:solidFill>
                  <a:schemeClr val="accent1"/>
                </a:solidFill>
              </a:rPr>
              <a:t>Dibutuhkan</a:t>
            </a:r>
            <a:r>
              <a:rPr lang="en-US" b="1" spc="-11" dirty="0">
                <a:solidFill>
                  <a:schemeClr val="accent1"/>
                </a:solidFill>
              </a:rPr>
              <a:t> </a:t>
            </a:r>
            <a:r>
              <a:rPr lang="en-US" b="1" spc="-11" dirty="0" err="1">
                <a:solidFill>
                  <a:schemeClr val="accent1"/>
                </a:solidFill>
              </a:rPr>
              <a:t>dalam</a:t>
            </a:r>
            <a:r>
              <a:rPr lang="en-US" b="1" spc="-11" dirty="0">
                <a:solidFill>
                  <a:schemeClr val="accent1"/>
                </a:solidFill>
              </a:rPr>
              <a:t> </a:t>
            </a:r>
            <a:r>
              <a:rPr lang="en-US" b="1" spc="-11" dirty="0" err="1">
                <a:solidFill>
                  <a:schemeClr val="accent1"/>
                </a:solidFill>
              </a:rPr>
              <a:t>Mendefinisikan</a:t>
            </a:r>
            <a:r>
              <a:rPr lang="en-US" b="1" spc="-11" dirty="0">
                <a:solidFill>
                  <a:schemeClr val="accent1"/>
                </a:solidFill>
              </a:rPr>
              <a:t> </a:t>
            </a:r>
            <a:r>
              <a:rPr lang="en-US" b="1" spc="-11" dirty="0" err="1">
                <a:solidFill>
                  <a:schemeClr val="accent1"/>
                </a:solidFill>
              </a:rPr>
              <a:t>Masalah</a:t>
            </a:r>
            <a:endParaRPr lang="en-US" b="1" spc="-8" dirty="0">
              <a:solidFill>
                <a:schemeClr val="accent1"/>
              </a:solidFill>
            </a:endParaRPr>
          </a:p>
        </p:txBody>
      </p:sp>
      <p:pic>
        <p:nvPicPr>
          <p:cNvPr id="7178" name="Picture 10" descr="Hasil gambar untuk problem solving">
            <a:extLst>
              <a:ext uri="{FF2B5EF4-FFF2-40B4-BE49-F238E27FC236}">
                <a16:creationId xmlns:a16="http://schemas.microsoft.com/office/drawing/2014/main" id="{4F60FA87-E808-3543-C495-655973DDE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214" y="2022862"/>
            <a:ext cx="2589020" cy="132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75395CB-969E-B5A1-F30D-12EE5727A0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867620"/>
              </p:ext>
            </p:extLst>
          </p:nvPr>
        </p:nvGraphicFramePr>
        <p:xfrm>
          <a:off x="1300163" y="1599113"/>
          <a:ext cx="4598894" cy="2693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15">
            <a:extLst>
              <a:ext uri="{FF2B5EF4-FFF2-40B4-BE49-F238E27FC236}">
                <a16:creationId xmlns:a16="http://schemas.microsoft.com/office/drawing/2014/main" id="{86F9F362-0D79-4D6C-0DCF-7D6F43D2F49F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61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7724" y="780114"/>
            <a:ext cx="7843200" cy="422071"/>
          </a:xfrm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lang="en-US" spc="-11" dirty="0" err="1"/>
              <a:t>Konsep</a:t>
            </a:r>
            <a:r>
              <a:rPr lang="en-US" spc="-11" dirty="0"/>
              <a:t> </a:t>
            </a:r>
            <a:r>
              <a:rPr lang="en-US" spc="-4" dirty="0"/>
              <a:t>Dasar</a:t>
            </a:r>
            <a:r>
              <a:rPr lang="en-US" spc="4" dirty="0"/>
              <a:t> </a:t>
            </a:r>
            <a:r>
              <a:rPr lang="en-US" spc="-15" dirty="0" err="1"/>
              <a:t>Pemrograman</a:t>
            </a:r>
            <a:endParaRPr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682735" y="1291032"/>
            <a:ext cx="7773561" cy="789735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80975" marR="3810" indent="-171450" algn="just">
              <a:lnSpc>
                <a:spcPct val="90000"/>
              </a:lnSpc>
              <a:spcBef>
                <a:spcPts val="326"/>
              </a:spcBef>
              <a:buFont typeface="Arial"/>
              <a:buChar char="•"/>
              <a:tabLst>
                <a:tab pos="180975" algn="l"/>
              </a:tabLst>
            </a:pP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Pemrograman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merupakan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suatu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proses yang meliputi menulis, 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testing,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memperbaiki, dan memaintenace </a:t>
            </a: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(memelihara)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perintah- 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perintah </a:t>
            </a:r>
            <a:r>
              <a:rPr sz="1800" spc="-15" dirty="0">
                <a:solidFill>
                  <a:srgbClr val="171616"/>
                </a:solidFill>
                <a:latin typeface="Lato"/>
                <a:cs typeface="Lato"/>
              </a:rPr>
              <a:t>(kode/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script) sebuah </a:t>
            </a: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program</a:t>
            </a:r>
            <a:r>
              <a:rPr sz="1800" spc="41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1800" spc="-26" dirty="0" err="1">
                <a:solidFill>
                  <a:srgbClr val="171616"/>
                </a:solidFill>
                <a:latin typeface="Lato"/>
                <a:cs typeface="Lato"/>
              </a:rPr>
              <a:t>komputer</a:t>
            </a:r>
            <a:r>
              <a:rPr sz="1800" spc="-26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  <a:endParaRPr lang="en-US" sz="1800" spc="-26" dirty="0">
              <a:solidFill>
                <a:srgbClr val="171616"/>
              </a:solidFill>
              <a:latin typeface="Lato"/>
              <a:cs typeface="Lato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BBEEFAB3-13DC-6D2B-6742-9945D63E39D8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F9E3F1F1-1543-FBC9-6A42-EA2F350534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409" y="2157659"/>
            <a:ext cx="5715830" cy="29331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4" dirty="0"/>
              <a:t>Bahasa</a:t>
            </a:r>
            <a:r>
              <a:rPr spc="-26" dirty="0"/>
              <a:t> </a:t>
            </a:r>
            <a:r>
              <a:rPr spc="-15" dirty="0"/>
              <a:t>Pemrograman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1512247"/>
            <a:ext cx="7770019" cy="2192683"/>
          </a:xfrm>
          <a:prstGeom prst="rect">
            <a:avLst/>
          </a:prstGeom>
        </p:spPr>
        <p:txBody>
          <a:bodyPr vert="horz" wrap="square" lIns="0" tIns="41433" rIns="0" bIns="0" rtlCol="0">
            <a:spAutoFit/>
          </a:bodyPr>
          <a:lstStyle/>
          <a:p>
            <a:pPr marL="180975" marR="3810" indent="-171450" algn="just">
              <a:lnSpc>
                <a:spcPct val="90000"/>
              </a:lnSpc>
              <a:spcBef>
                <a:spcPts val="326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Bahasa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pemrograman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digunakan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untuk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membuat sebuah 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program </a:t>
            </a:r>
            <a:r>
              <a:rPr sz="2100" spc="-11" dirty="0">
                <a:solidFill>
                  <a:srgbClr val="171616"/>
                </a:solidFill>
                <a:latin typeface="Lato"/>
                <a:cs typeface="Lato"/>
              </a:rPr>
              <a:t>komputer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yang terdiri dari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kumpulan </a:t>
            </a:r>
            <a:r>
              <a:rPr sz="2100" spc="-15" dirty="0">
                <a:solidFill>
                  <a:srgbClr val="171616"/>
                </a:solidFill>
                <a:latin typeface="Lato"/>
                <a:cs typeface="Lato"/>
              </a:rPr>
              <a:t>kode-kode 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(sintaks) yang digunakan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untuk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mengerjakan proses tertentu  pada</a:t>
            </a:r>
            <a:r>
              <a:rPr sz="2100" spc="11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26" dirty="0">
                <a:solidFill>
                  <a:srgbClr val="171616"/>
                </a:solidFill>
                <a:latin typeface="Lato"/>
                <a:cs typeface="Lato"/>
              </a:rPr>
              <a:t>komputer.</a:t>
            </a:r>
            <a:endParaRPr sz="2100" dirty="0">
              <a:latin typeface="Lato"/>
              <a:cs typeface="Lato"/>
            </a:endParaRPr>
          </a:p>
          <a:p>
            <a:pPr marL="180975" marR="6191" indent="-171450" algn="just">
              <a:lnSpc>
                <a:spcPts val="2265"/>
              </a:lnSpc>
              <a:spcBef>
                <a:spcPts val="791"/>
              </a:spcBef>
              <a:buFont typeface="Arial"/>
              <a:buChar char="•"/>
              <a:tabLst>
                <a:tab pos="180975" algn="l"/>
              </a:tabLst>
            </a:pP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Bahasa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pemrograman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memiliki tugas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untuk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menghubungkan  pengguna dengan mesin </a:t>
            </a:r>
            <a:r>
              <a:rPr sz="2100" spc="-11" dirty="0">
                <a:solidFill>
                  <a:srgbClr val="171616"/>
                </a:solidFill>
                <a:latin typeface="Lato"/>
                <a:cs typeface="Lato"/>
              </a:rPr>
              <a:t>komputer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karena dia bisa  menerjemahkan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perintah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yang dimengerti oleh</a:t>
            </a:r>
            <a:r>
              <a:rPr sz="2100" spc="49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26" dirty="0">
                <a:solidFill>
                  <a:srgbClr val="171616"/>
                </a:solidFill>
                <a:latin typeface="Lato"/>
                <a:cs typeface="Lato"/>
              </a:rPr>
              <a:t>komputer.</a:t>
            </a:r>
            <a:endParaRPr sz="2100" dirty="0">
              <a:latin typeface="Lato"/>
              <a:cs typeface="Lato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F2F73812-694D-95A6-DB5B-EB5507E2E56C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0372" y="1412356"/>
            <a:ext cx="6183630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Gambaran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sederhana </a:t>
            </a:r>
            <a:r>
              <a:rPr sz="2100" spc="-11" dirty="0">
                <a:solidFill>
                  <a:srgbClr val="171616"/>
                </a:solidFill>
                <a:latin typeface="Lato"/>
                <a:cs typeface="Lato"/>
              </a:rPr>
              <a:t>komputer </a:t>
            </a:r>
            <a:r>
              <a:rPr sz="2100" spc="-4" dirty="0">
                <a:solidFill>
                  <a:srgbClr val="171616"/>
                </a:solidFill>
                <a:latin typeface="Lato"/>
                <a:cs typeface="Lato"/>
              </a:rPr>
              <a:t>dan </a:t>
            </a:r>
            <a:r>
              <a:rPr sz="2100" dirty="0">
                <a:solidFill>
                  <a:srgbClr val="171616"/>
                </a:solidFill>
                <a:latin typeface="Lato"/>
                <a:cs typeface="Lato"/>
              </a:rPr>
              <a:t>intruksi</a:t>
            </a:r>
            <a:r>
              <a:rPr sz="2100" spc="6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2100" spc="-8" dirty="0">
                <a:solidFill>
                  <a:srgbClr val="171616"/>
                </a:solidFill>
                <a:latin typeface="Lato"/>
                <a:cs typeface="Lato"/>
              </a:rPr>
              <a:t>program</a:t>
            </a:r>
            <a:endParaRPr sz="2100" dirty="0">
              <a:latin typeface="Lato"/>
              <a:cs typeface="La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457" y="1841373"/>
            <a:ext cx="5403085" cy="295922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2764EF2-BEF3-995C-33C3-367028EE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pc="-4" dirty="0">
                <a:latin typeface="Lato"/>
                <a:cs typeface="Lato"/>
              </a:rPr>
              <a:t>Bahasa</a:t>
            </a:r>
            <a:r>
              <a:rPr lang="en-US" sz="2800" spc="-26" dirty="0">
                <a:latin typeface="Lato"/>
                <a:cs typeface="Lato"/>
              </a:rPr>
              <a:t> </a:t>
            </a:r>
            <a:r>
              <a:rPr lang="en-US" sz="2800" spc="-15" dirty="0" err="1">
                <a:latin typeface="Lato"/>
                <a:cs typeface="Lato"/>
              </a:rPr>
              <a:t>Pemrograman</a:t>
            </a:r>
            <a:endParaRPr lang="en-US" dirty="0"/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4F4CF6A5-26C8-BEB0-135F-3C404EE560A2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4" dirty="0"/>
              <a:t>Kategori Bahasa</a:t>
            </a:r>
            <a:r>
              <a:rPr spc="19" dirty="0"/>
              <a:t> </a:t>
            </a:r>
            <a:r>
              <a:rPr spc="-11" dirty="0"/>
              <a:t>pemrograman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7724" y="1577806"/>
            <a:ext cx="8056246" cy="1077026"/>
          </a:xfrm>
          <a:prstGeom prst="rect">
            <a:avLst/>
          </a:prstGeom>
        </p:spPr>
        <p:txBody>
          <a:bodyPr vert="horz" wrap="square" lIns="0" tIns="40958" rIns="0" bIns="0" rtlCol="0">
            <a:spAutoFit/>
          </a:bodyPr>
          <a:lstStyle/>
          <a:p>
            <a:pPr marL="295275" marR="4763" indent="-285750" algn="just">
              <a:lnSpc>
                <a:spcPct val="90000"/>
              </a:lnSpc>
              <a:spcBef>
                <a:spcPts val="323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Bahasa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Tingkat Rendah : yaitu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bahasa </a:t>
            </a: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pemrograman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yang </a:t>
            </a: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hanya  </a:t>
            </a:r>
            <a:r>
              <a:rPr sz="1800" spc="-4" dirty="0" err="1">
                <a:solidFill>
                  <a:srgbClr val="171616"/>
                </a:solidFill>
                <a:latin typeface="Lato"/>
                <a:cs typeface="Lato"/>
              </a:rPr>
              <a:t>dimengerti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dan </a:t>
            </a:r>
            <a:r>
              <a:rPr sz="1800" spc="-8" dirty="0" err="1">
                <a:solidFill>
                  <a:srgbClr val="171616"/>
                </a:solidFill>
                <a:latin typeface="Lato"/>
                <a:cs typeface="Lato"/>
              </a:rPr>
              <a:t>dikerjakan</a:t>
            </a:r>
            <a:r>
              <a:rPr sz="1800" spc="-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sz="1800" dirty="0">
                <a:solidFill>
                  <a:srgbClr val="171616"/>
                </a:solidFill>
                <a:latin typeface="Lato"/>
                <a:cs typeface="Lato"/>
              </a:rPr>
              <a:t>langsung </a:t>
            </a:r>
            <a:r>
              <a:rPr sz="1800" spc="-4" dirty="0">
                <a:solidFill>
                  <a:srgbClr val="171616"/>
                </a:solidFill>
                <a:latin typeface="Lato"/>
                <a:cs typeface="Lato"/>
              </a:rPr>
              <a:t>oleh </a:t>
            </a:r>
            <a:r>
              <a:rPr sz="1800" spc="-4" dirty="0" err="1">
                <a:solidFill>
                  <a:srgbClr val="171616"/>
                </a:solidFill>
                <a:latin typeface="Lato"/>
                <a:cs typeface="Lato"/>
              </a:rPr>
              <a:t>mesin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.  </a:t>
            </a:r>
          </a:p>
          <a:p>
            <a:pPr marL="627063" marR="4763" lvl="8" indent="-285750" algn="just">
              <a:lnSpc>
                <a:spcPct val="90000"/>
              </a:lnSpc>
              <a:spcBef>
                <a:spcPts val="323"/>
              </a:spcBef>
              <a:buFont typeface="Wingdings" panose="05000000000000000000" pitchFamily="2" charset="2"/>
              <a:buChar char="§"/>
            </a:pP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Contohnya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yaitu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dirty="0" err="1">
                <a:solidFill>
                  <a:srgbClr val="171616"/>
                </a:solidFill>
                <a:latin typeface="Lato"/>
                <a:cs typeface="Lato"/>
              </a:rPr>
              <a:t>bahasa</a:t>
            </a:r>
            <a:r>
              <a:rPr lang="en-US" sz="18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standar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8" dirty="0" err="1">
                <a:solidFill>
                  <a:srgbClr val="171616"/>
                </a:solidFill>
                <a:latin typeface="Lato"/>
                <a:cs typeface="Lato"/>
              </a:rPr>
              <a:t>rakitan</a:t>
            </a:r>
            <a:r>
              <a:rPr lang="en-US" sz="1800" spc="-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dirty="0" err="1">
                <a:solidFill>
                  <a:srgbClr val="171616"/>
                </a:solidFill>
                <a:latin typeface="Lato"/>
                <a:cs typeface="Lato"/>
              </a:rPr>
              <a:t>atau</a:t>
            </a:r>
            <a:r>
              <a:rPr lang="en-US" sz="18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biasa</a:t>
            </a:r>
            <a:r>
              <a:rPr lang="en-US" sz="18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di</a:t>
            </a:r>
            <a:r>
              <a:rPr lang="en-US" sz="1800" spc="-15" dirty="0" err="1">
                <a:solidFill>
                  <a:srgbClr val="171616"/>
                </a:solidFill>
                <a:latin typeface="Lato"/>
                <a:cs typeface="Lato"/>
              </a:rPr>
              <a:t>kenal</a:t>
            </a:r>
            <a:r>
              <a:rPr lang="en-US" sz="1800" spc="-15" dirty="0">
                <a:solidFill>
                  <a:srgbClr val="171616"/>
                </a:solidFill>
                <a:latin typeface="Lato"/>
                <a:cs typeface="Lato"/>
              </a:rPr>
              <a:t>  </a:t>
            </a:r>
            <a:r>
              <a:rPr lang="en-US" sz="1800" spc="-4" dirty="0" err="1">
                <a:solidFill>
                  <a:srgbClr val="171616"/>
                </a:solidFill>
                <a:latin typeface="Lato"/>
                <a:cs typeface="Lato"/>
              </a:rPr>
              <a:t>dengan</a:t>
            </a:r>
            <a:r>
              <a:rPr lang="en-US" sz="1800" spc="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800" spc="-19" dirty="0">
                <a:solidFill>
                  <a:srgbClr val="171616"/>
                </a:solidFill>
                <a:latin typeface="Lato"/>
                <a:cs typeface="Lato"/>
              </a:rPr>
              <a:t>assembler (Biner/Hexadecimal).</a:t>
            </a:r>
            <a:endParaRPr lang="en-US" sz="1800" dirty="0">
              <a:latin typeface="Lato"/>
              <a:cs typeface="Lato"/>
            </a:endParaRPr>
          </a:p>
        </p:txBody>
      </p:sp>
      <p:pic>
        <p:nvPicPr>
          <p:cNvPr id="9218" name="Picture 2" descr="L10a: Assembly Language">
            <a:extLst>
              <a:ext uri="{FF2B5EF4-FFF2-40B4-BE49-F238E27FC236}">
                <a16:creationId xmlns:a16="http://schemas.microsoft.com/office/drawing/2014/main" id="{43183C69-B9F1-D8F9-59ED-62EBEB152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641" y="2784660"/>
            <a:ext cx="2738718" cy="205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B955F0DE-294F-A2CB-7C5E-0BB3D9B7084D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9049" rIns="0" bIns="0" rtlCol="0" anchor="ctr" anchorCtr="0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pc="-4" dirty="0"/>
              <a:t>Kategori Bahasa</a:t>
            </a:r>
            <a:r>
              <a:rPr spc="19" dirty="0"/>
              <a:t> </a:t>
            </a:r>
            <a:r>
              <a:rPr spc="-11" dirty="0"/>
              <a:t>pemrograman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2951" y="1671394"/>
            <a:ext cx="8056246" cy="595356"/>
          </a:xfrm>
          <a:prstGeom prst="rect">
            <a:avLst/>
          </a:prstGeom>
        </p:spPr>
        <p:txBody>
          <a:bodyPr vert="horz" wrap="square" lIns="0" tIns="40958" rIns="0" bIns="0" rtlCol="0">
            <a:spAutoFit/>
          </a:bodyPr>
          <a:lstStyle/>
          <a:p>
            <a:pPr marL="295275" marR="3810" indent="-285750" algn="just">
              <a:lnSpc>
                <a:spcPct val="90000"/>
              </a:lnSpc>
              <a:spcBef>
                <a:spcPts val="746"/>
              </a:spcBef>
              <a:buFont typeface="Wingdings" panose="05000000000000000000" pitchFamily="2" charset="2"/>
              <a:buChar char="§"/>
              <a:tabLst>
                <a:tab pos="180975" algn="l"/>
              </a:tabLst>
            </a:pP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Bahasa Tingkat Tinggi 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: Bahasa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ini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spc="-4" dirty="0" err="1">
                <a:solidFill>
                  <a:srgbClr val="171616"/>
                </a:solidFill>
                <a:latin typeface="Lato"/>
                <a:cs typeface="Lato"/>
              </a:rPr>
              <a:t>sudah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spc="-4" dirty="0" err="1">
                <a:solidFill>
                  <a:srgbClr val="171616"/>
                </a:solidFill>
                <a:latin typeface="Lato"/>
                <a:cs typeface="Lato"/>
              </a:rPr>
              <a:t>mendekati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bahasa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 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manusia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. 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a</a:t>
            </a:r>
            <a:r>
              <a:rPr lang="en-US" sz="2000" spc="-8" dirty="0" err="1">
                <a:solidFill>
                  <a:srgbClr val="171616"/>
                </a:solidFill>
                <a:latin typeface="Lato"/>
                <a:cs typeface="Lato"/>
              </a:rPr>
              <a:t>rtinya</a:t>
            </a:r>
            <a:r>
              <a:rPr lang="en-US" sz="2000" spc="-8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pengguna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spc="-4" dirty="0" err="1">
                <a:solidFill>
                  <a:srgbClr val="171616"/>
                </a:solidFill>
                <a:latin typeface="Lato"/>
                <a:cs typeface="Lato"/>
              </a:rPr>
              <a:t>sudah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dapat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spc="-4" dirty="0" err="1">
                <a:solidFill>
                  <a:srgbClr val="171616"/>
                </a:solidFill>
                <a:latin typeface="Lato"/>
                <a:cs typeface="Lato"/>
              </a:rPr>
              <a:t>memahami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dirty="0" err="1">
                <a:solidFill>
                  <a:srgbClr val="171616"/>
                </a:solidFill>
                <a:latin typeface="Lato"/>
                <a:cs typeface="Lato"/>
              </a:rPr>
              <a:t>bahasa</a:t>
            </a:r>
            <a:r>
              <a:rPr lang="en-US" sz="20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2000" spc="-4" dirty="0" err="1">
                <a:solidFill>
                  <a:srgbClr val="171616"/>
                </a:solidFill>
                <a:latin typeface="Lato"/>
                <a:cs typeface="Lato"/>
              </a:rPr>
              <a:t>ini</a:t>
            </a:r>
            <a:r>
              <a:rPr lang="en-US" sz="2000" spc="-4" dirty="0">
                <a:solidFill>
                  <a:srgbClr val="171616"/>
                </a:solidFill>
                <a:latin typeface="Lato"/>
                <a:cs typeface="Lato"/>
              </a:rPr>
              <a:t>. </a:t>
            </a:r>
            <a:endParaRPr sz="2000" dirty="0">
              <a:latin typeface="Lato"/>
              <a:cs typeface="Lato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A1EAA54-01F0-C15E-F4BC-07FDABB607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593" y="2736155"/>
            <a:ext cx="1990772" cy="1118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28C03FB-DCE7-895A-71AF-FCC13A8F2F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477" y="2843327"/>
            <a:ext cx="1428750" cy="1416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19C04D0D-8A95-44E1-A411-80FAC58E28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2438" y="3077124"/>
            <a:ext cx="1428751" cy="706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2D3438-5A83-5E10-659A-D34F02623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400" y="2654629"/>
            <a:ext cx="1308007" cy="1551540"/>
          </a:xfrm>
          <a:prstGeom prst="rect">
            <a:avLst/>
          </a:prstGeom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941BC19B-1430-374D-BC30-8509FDD4E97A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0936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A250633-CBC3-3DDC-12A2-9AEA0729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851" y="2201170"/>
            <a:ext cx="1174523" cy="1499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06EE47-A41D-C95C-9556-BFAF1188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Kesimpulan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370D2-737C-C2E8-5A24-5FB79E08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851" y="1298875"/>
            <a:ext cx="914400" cy="647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A6B67A-EF01-CFFB-D92C-0F8002ABDF7F}"/>
              </a:ext>
            </a:extLst>
          </p:cNvPr>
          <p:cNvSpPr txBox="1">
            <a:spLocks/>
          </p:cNvSpPr>
          <p:nvPr/>
        </p:nvSpPr>
        <p:spPr>
          <a:xfrm>
            <a:off x="860433" y="1454965"/>
            <a:ext cx="2058179" cy="786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Algoritma</a:t>
            </a:r>
            <a:r>
              <a:rPr lang="en-US" sz="2000" dirty="0"/>
              <a:t>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2D38E-3890-0B47-8745-C5B032FDDD90}"/>
              </a:ext>
            </a:extLst>
          </p:cNvPr>
          <p:cNvSpPr txBox="1"/>
          <p:nvPr/>
        </p:nvSpPr>
        <p:spPr>
          <a:xfrm>
            <a:off x="865404" y="1858787"/>
            <a:ext cx="57680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 err="1">
                <a:latin typeface="Lato" panose="020F0502020204030203" pitchFamily="34" charset="0"/>
              </a:rPr>
              <a:t>Algoritma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merupakan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urutan-urutan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dari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instruksi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langkah-langkah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untuk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menyelesaikan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suatu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masalah</a:t>
            </a:r>
            <a:r>
              <a:rPr lang="en-US" dirty="0">
                <a:latin typeface="Lato" panose="020F0502020204030203" pitchFamily="34" charset="0"/>
              </a:rPr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 err="1">
                <a:latin typeface="Lato" panose="020F0502020204030203" pitchFamily="34" charset="0"/>
              </a:rPr>
              <a:t>Disusun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sebelum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membuat</a:t>
            </a:r>
            <a:r>
              <a:rPr lang="en-US" dirty="0">
                <a:latin typeface="Lato" panose="020F0502020204030203" pitchFamily="34" charset="0"/>
              </a:rPr>
              <a:t> program/</a:t>
            </a:r>
            <a:r>
              <a:rPr lang="en-US" dirty="0" err="1">
                <a:latin typeface="Lato" panose="020F0502020204030203" pitchFamily="34" charset="0"/>
              </a:rPr>
              <a:t>aplikasi</a:t>
            </a:r>
            <a:r>
              <a:rPr lang="en-US" dirty="0">
                <a:latin typeface="Lato" panose="020F0502020204030203" pitchFamily="34" charset="0"/>
              </a:rPr>
              <a:t>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BB240CB-D14D-C3BB-A59D-025662D9BCAA}"/>
              </a:ext>
            </a:extLst>
          </p:cNvPr>
          <p:cNvSpPr txBox="1">
            <a:spLocks/>
          </p:cNvSpPr>
          <p:nvPr/>
        </p:nvSpPr>
        <p:spPr>
          <a:xfrm>
            <a:off x="870375" y="4205032"/>
            <a:ext cx="7108213" cy="657345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rgbClr val="171616"/>
                </a:solidFill>
                <a:latin typeface="Lato"/>
                <a:cs typeface="Lato"/>
              </a:rPr>
              <a:t>Suatu</a:t>
            </a:r>
            <a:r>
              <a:rPr lang="en-US" sz="14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proses yang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meliputi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menulis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,  </a:t>
            </a:r>
            <a:r>
              <a:rPr lang="en-US" sz="1400" dirty="0">
                <a:solidFill>
                  <a:srgbClr val="171616"/>
                </a:solidFill>
                <a:latin typeface="Lato"/>
                <a:cs typeface="Lato"/>
              </a:rPr>
              <a:t>testing,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memperbaiki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, dan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memaintenace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8" dirty="0">
                <a:solidFill>
                  <a:srgbClr val="171616"/>
                </a:solidFill>
                <a:latin typeface="Lato"/>
                <a:cs typeface="Lato"/>
              </a:rPr>
              <a:t>(</a:t>
            </a:r>
            <a:r>
              <a:rPr lang="en-US" sz="1400" spc="-8" dirty="0" err="1">
                <a:solidFill>
                  <a:srgbClr val="171616"/>
                </a:solidFill>
                <a:latin typeface="Lato"/>
                <a:cs typeface="Lato"/>
              </a:rPr>
              <a:t>memelihara</a:t>
            </a:r>
            <a:r>
              <a:rPr lang="en-US" sz="1400" spc="-8" dirty="0">
                <a:solidFill>
                  <a:srgbClr val="171616"/>
                </a:solidFill>
                <a:latin typeface="Lato"/>
                <a:cs typeface="Lato"/>
              </a:rPr>
              <a:t>)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perintah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-  </a:t>
            </a:r>
            <a:r>
              <a:rPr lang="en-US" sz="1400" dirty="0" err="1">
                <a:solidFill>
                  <a:srgbClr val="171616"/>
                </a:solidFill>
                <a:latin typeface="Lato"/>
                <a:cs typeface="Lato"/>
              </a:rPr>
              <a:t>perintah</a:t>
            </a:r>
            <a:r>
              <a:rPr lang="en-US" sz="1400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15" dirty="0">
                <a:solidFill>
                  <a:srgbClr val="171616"/>
                </a:solidFill>
                <a:latin typeface="Lato"/>
                <a:cs typeface="Lato"/>
              </a:rPr>
              <a:t>(</a:t>
            </a:r>
            <a:r>
              <a:rPr lang="en-US" sz="1400" spc="-15" dirty="0" err="1">
                <a:solidFill>
                  <a:srgbClr val="171616"/>
                </a:solidFill>
                <a:latin typeface="Lato"/>
                <a:cs typeface="Lato"/>
              </a:rPr>
              <a:t>kode</a:t>
            </a:r>
            <a:r>
              <a:rPr lang="en-US" sz="1400" spc="-15" dirty="0">
                <a:solidFill>
                  <a:srgbClr val="171616"/>
                </a:solidFill>
                <a:latin typeface="Lato"/>
                <a:cs typeface="Lato"/>
              </a:rPr>
              <a:t>/ 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script) </a:t>
            </a:r>
            <a:r>
              <a:rPr lang="en-US" sz="1400" spc="-4" dirty="0" err="1">
                <a:solidFill>
                  <a:srgbClr val="171616"/>
                </a:solidFill>
                <a:latin typeface="Lato"/>
                <a:cs typeface="Lato"/>
              </a:rPr>
              <a:t>sebuah</a:t>
            </a:r>
            <a:r>
              <a:rPr lang="en-US" sz="1400" spc="-4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8" dirty="0">
                <a:solidFill>
                  <a:srgbClr val="171616"/>
                </a:solidFill>
                <a:latin typeface="Lato"/>
                <a:cs typeface="Lato"/>
              </a:rPr>
              <a:t>program</a:t>
            </a:r>
            <a:r>
              <a:rPr lang="en-US" sz="1400" spc="41" dirty="0">
                <a:solidFill>
                  <a:srgbClr val="171616"/>
                </a:solidFill>
                <a:latin typeface="Lato"/>
                <a:cs typeface="Lato"/>
              </a:rPr>
              <a:t> </a:t>
            </a:r>
            <a:r>
              <a:rPr lang="en-US" sz="1400" spc="-26" dirty="0" err="1">
                <a:solidFill>
                  <a:srgbClr val="171616"/>
                </a:solidFill>
                <a:latin typeface="Lato"/>
                <a:cs typeface="Lato"/>
              </a:rPr>
              <a:t>komputer</a:t>
            </a:r>
            <a:r>
              <a:rPr lang="en-US" sz="1400" spc="-26" dirty="0">
                <a:solidFill>
                  <a:srgbClr val="171616"/>
                </a:solidFill>
                <a:latin typeface="Lato"/>
                <a:cs typeface="Lato"/>
              </a:rPr>
              <a:t>.</a:t>
            </a:r>
            <a:endParaRPr lang="en-US" sz="1400" dirty="0">
              <a:latin typeface="Lato" panose="020F050202020403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E154BA-B837-9576-F8E4-AE94F156A69C}"/>
              </a:ext>
            </a:extLst>
          </p:cNvPr>
          <p:cNvSpPr txBox="1">
            <a:spLocks/>
          </p:cNvSpPr>
          <p:nvPr/>
        </p:nvSpPr>
        <p:spPr>
          <a:xfrm>
            <a:off x="870375" y="3849472"/>
            <a:ext cx="2754454" cy="786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Pemrograman</a:t>
            </a:r>
            <a:r>
              <a:rPr lang="en-US" sz="2000" dirty="0"/>
              <a:t> 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CC0510-6374-BF78-F3C0-864C4E275BF0}"/>
              </a:ext>
            </a:extLst>
          </p:cNvPr>
          <p:cNvSpPr txBox="1">
            <a:spLocks/>
          </p:cNvSpPr>
          <p:nvPr/>
        </p:nvSpPr>
        <p:spPr>
          <a:xfrm>
            <a:off x="860433" y="2585493"/>
            <a:ext cx="6060320" cy="78692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Langkah-</a:t>
            </a:r>
            <a:r>
              <a:rPr lang="en-US" sz="2000" dirty="0" err="1"/>
              <a:t>langkah</a:t>
            </a:r>
            <a:r>
              <a:rPr lang="en-US" sz="2000" dirty="0"/>
              <a:t> </a:t>
            </a:r>
            <a:r>
              <a:rPr lang="en-US" sz="2000" dirty="0" err="1"/>
              <a:t>menyelesaikan</a:t>
            </a:r>
            <a:r>
              <a:rPr lang="en-US" sz="2000" dirty="0"/>
              <a:t> </a:t>
            </a:r>
            <a:r>
              <a:rPr lang="en-US" sz="2000" dirty="0" err="1"/>
              <a:t>masalah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C0654-CF8E-7CFD-0CCA-7AD66D913175}"/>
              </a:ext>
            </a:extLst>
          </p:cNvPr>
          <p:cNvSpPr txBox="1"/>
          <p:nvPr/>
        </p:nvSpPr>
        <p:spPr>
          <a:xfrm>
            <a:off x="870375" y="2895365"/>
            <a:ext cx="57680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Definisikan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Masalah</a:t>
            </a:r>
            <a:r>
              <a:rPr lang="en-US" dirty="0">
                <a:latin typeface="Lato" panose="020F0502020204030203" pitchFamily="34" charset="0"/>
              </a:rPr>
              <a:t> yang </a:t>
            </a:r>
            <a:r>
              <a:rPr lang="en-US" dirty="0" err="1">
                <a:latin typeface="Lato" panose="020F0502020204030203" pitchFamily="34" charset="0"/>
              </a:rPr>
              <a:t>ada</a:t>
            </a:r>
            <a:endParaRPr lang="en-US" dirty="0">
              <a:latin typeface="Lato" panose="020F050202020403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Membuat</a:t>
            </a:r>
            <a:r>
              <a:rPr lang="en-US" dirty="0">
                <a:latin typeface="Lato" panose="020F0502020204030203" pitchFamily="34" charset="0"/>
              </a:rPr>
              <a:t> Solusi yang </a:t>
            </a:r>
            <a:r>
              <a:rPr lang="en-US" dirty="0" err="1">
                <a:latin typeface="Lato" panose="020F0502020204030203" pitchFamily="34" charset="0"/>
              </a:rPr>
              <a:t>mungkin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dilakukan</a:t>
            </a:r>
            <a:endParaRPr lang="en-US" dirty="0">
              <a:latin typeface="Lato" panose="020F050202020403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Evaluasi</a:t>
            </a:r>
            <a:r>
              <a:rPr lang="en-US" dirty="0">
                <a:latin typeface="Lato" panose="020F0502020204030203" pitchFamily="34" charset="0"/>
              </a:rPr>
              <a:t> dan </a:t>
            </a:r>
            <a:r>
              <a:rPr lang="en-US" dirty="0" err="1">
                <a:latin typeface="Lato" panose="020F0502020204030203" pitchFamily="34" charset="0"/>
              </a:rPr>
              <a:t>memilih</a:t>
            </a: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solusi</a:t>
            </a:r>
            <a:r>
              <a:rPr lang="en-US" dirty="0">
                <a:latin typeface="Lato" panose="020F0502020204030203" pitchFamily="34" charset="0"/>
              </a:rPr>
              <a:t> yang paling </a:t>
            </a:r>
            <a:r>
              <a:rPr lang="en-US" dirty="0" err="1">
                <a:latin typeface="Lato" panose="020F0502020204030203" pitchFamily="34" charset="0"/>
              </a:rPr>
              <a:t>tepat</a:t>
            </a:r>
            <a:endParaRPr lang="en-US" dirty="0">
              <a:latin typeface="Lato" panose="020F050202020403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Lato" panose="020F0502020204030203" pitchFamily="34" charset="0"/>
              </a:rPr>
              <a:t> </a:t>
            </a:r>
            <a:r>
              <a:rPr lang="en-US" dirty="0" err="1">
                <a:latin typeface="Lato" panose="020F0502020204030203" pitchFamily="34" charset="0"/>
              </a:rPr>
              <a:t>Implementasi</a:t>
            </a:r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77A01A29-A27B-CF10-3303-26602E19B9E4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04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  <p:bldP spid="8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D35E-6DC8-52D0-58AF-A4625301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6AF6-144F-2A9E-2A0D-E8EE57D7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984" y="1599700"/>
            <a:ext cx="7733940" cy="2886000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Buatlah</a:t>
            </a:r>
            <a:r>
              <a:rPr lang="en-US" sz="1800" b="1" dirty="0"/>
              <a:t> </a:t>
            </a:r>
            <a:r>
              <a:rPr lang="en-US" sz="1800" b="1" dirty="0" err="1"/>
              <a:t>kelompok</a:t>
            </a:r>
            <a:r>
              <a:rPr lang="en-US" sz="1800" b="1" dirty="0"/>
              <a:t> </a:t>
            </a:r>
            <a:r>
              <a:rPr lang="en-US" sz="1800" b="1" dirty="0" err="1"/>
              <a:t>kecil</a:t>
            </a:r>
            <a:r>
              <a:rPr lang="en-US" sz="1800" b="1" dirty="0"/>
              <a:t> dan </a:t>
            </a:r>
            <a:r>
              <a:rPr lang="en-US" sz="1800" b="1" dirty="0" err="1"/>
              <a:t>buatlah</a:t>
            </a:r>
            <a:r>
              <a:rPr lang="en-US" sz="1800" b="1" dirty="0"/>
              <a:t> </a:t>
            </a:r>
            <a:r>
              <a:rPr lang="en-US" sz="1800" b="1" dirty="0" err="1"/>
              <a:t>algoritma</a:t>
            </a:r>
            <a:r>
              <a:rPr lang="en-US" sz="1800" b="1" dirty="0"/>
              <a:t> </a:t>
            </a:r>
            <a:r>
              <a:rPr lang="en-US" sz="1800" b="1" dirty="0" err="1"/>
              <a:t>sederhana</a:t>
            </a:r>
            <a:r>
              <a:rPr lang="en-US" sz="1800" b="1" dirty="0"/>
              <a:t> yang </a:t>
            </a:r>
            <a:r>
              <a:rPr lang="en-US" sz="1800" b="1" dirty="0" err="1"/>
              <a:t>biasa</a:t>
            </a:r>
            <a:r>
              <a:rPr lang="en-US" sz="1800" b="1" dirty="0"/>
              <a:t> kalian </a:t>
            </a:r>
            <a:r>
              <a:rPr lang="en-US" sz="1800" b="1" dirty="0" err="1"/>
              <a:t>temui</a:t>
            </a:r>
            <a:r>
              <a:rPr lang="en-US" sz="1800" b="1" dirty="0"/>
              <a:t> </a:t>
            </a:r>
            <a:r>
              <a:rPr lang="en-US" sz="1800" b="1" dirty="0" err="1"/>
              <a:t>dalam</a:t>
            </a:r>
            <a:r>
              <a:rPr lang="en-US" sz="1800" b="1" dirty="0"/>
              <a:t> </a:t>
            </a:r>
            <a:r>
              <a:rPr lang="en-US" sz="1800" b="1" dirty="0" err="1"/>
              <a:t>kehidupan</a:t>
            </a:r>
            <a:r>
              <a:rPr lang="en-US" sz="1800" b="1" dirty="0"/>
              <a:t> </a:t>
            </a:r>
            <a:r>
              <a:rPr lang="en-US" sz="1800" b="1" dirty="0" err="1"/>
              <a:t>sehari-hari</a:t>
            </a:r>
            <a:r>
              <a:rPr lang="en-US" sz="1800" b="1" dirty="0"/>
              <a:t>, dan </a:t>
            </a:r>
            <a:r>
              <a:rPr lang="en-US" sz="1800" b="1" dirty="0" err="1"/>
              <a:t>setiap</a:t>
            </a:r>
            <a:r>
              <a:rPr lang="en-US" sz="1800" b="1" dirty="0"/>
              <a:t> </a:t>
            </a:r>
            <a:r>
              <a:rPr lang="en-US" sz="1800" b="1" dirty="0" err="1"/>
              <a:t>kelompok</a:t>
            </a:r>
            <a:r>
              <a:rPr lang="en-US" sz="1800" b="1" dirty="0"/>
              <a:t> </a:t>
            </a:r>
            <a:r>
              <a:rPr lang="en-US" sz="1800" b="1" dirty="0" err="1"/>
              <a:t>harus</a:t>
            </a:r>
            <a:r>
              <a:rPr lang="en-US" sz="1800" b="1" dirty="0"/>
              <a:t> </a:t>
            </a:r>
            <a:r>
              <a:rPr lang="en-US" sz="1800" b="1" dirty="0" err="1"/>
              <a:t>berbeda</a:t>
            </a:r>
            <a:r>
              <a:rPr lang="en-US" sz="1800" b="1" dirty="0"/>
              <a:t> </a:t>
            </a:r>
            <a:r>
              <a:rPr lang="en-US" sz="1800" b="1" dirty="0" err="1"/>
              <a:t>topiknya</a:t>
            </a:r>
            <a:r>
              <a:rPr lang="en-US" sz="1800" b="1" dirty="0"/>
              <a:t>!</a:t>
            </a:r>
          </a:p>
          <a:p>
            <a:r>
              <a:rPr lang="en-US" sz="1800" b="1" dirty="0" err="1"/>
              <a:t>Silahkan</a:t>
            </a:r>
            <a:r>
              <a:rPr lang="en-US" sz="1800" b="1" dirty="0"/>
              <a:t> </a:t>
            </a:r>
            <a:r>
              <a:rPr lang="en-US" sz="1800" b="1" dirty="0" err="1"/>
              <a:t>mencari</a:t>
            </a:r>
            <a:r>
              <a:rPr lang="en-US" sz="1800" b="1" dirty="0"/>
              <a:t> </a:t>
            </a:r>
            <a:r>
              <a:rPr lang="en-US" sz="1800" b="1" dirty="0" err="1"/>
              <a:t>referensi</a:t>
            </a:r>
            <a:r>
              <a:rPr lang="en-US" sz="1800" b="1" dirty="0"/>
              <a:t> dan </a:t>
            </a:r>
            <a:r>
              <a:rPr lang="en-US" sz="1800" b="1" dirty="0" err="1"/>
              <a:t>merangkum</a:t>
            </a:r>
            <a:r>
              <a:rPr lang="en-US" sz="1800" b="1" dirty="0"/>
              <a:t> </a:t>
            </a:r>
            <a:r>
              <a:rPr lang="en-US" sz="1800" b="1" dirty="0" err="1"/>
              <a:t>mengenai</a:t>
            </a:r>
            <a:r>
              <a:rPr lang="en-US" sz="1800" b="1" dirty="0"/>
              <a:t> </a:t>
            </a:r>
            <a:r>
              <a:rPr lang="en-US" sz="1800" b="1" dirty="0" err="1"/>
              <a:t>konsep-konsep</a:t>
            </a:r>
            <a:r>
              <a:rPr lang="en-US" sz="1800" b="1" dirty="0"/>
              <a:t> </a:t>
            </a:r>
            <a:r>
              <a:rPr lang="en-US" sz="1800" b="1" dirty="0" err="1"/>
              <a:t>algoritma</a:t>
            </a:r>
            <a:r>
              <a:rPr lang="en-US" sz="1800" b="1" dirty="0"/>
              <a:t> dan </a:t>
            </a:r>
            <a:r>
              <a:rPr lang="en-US" sz="1800" b="1" dirty="0" err="1"/>
              <a:t>pemrograman</a:t>
            </a:r>
            <a:r>
              <a:rPr lang="en-US" sz="1800" b="1" dirty="0"/>
              <a:t> </a:t>
            </a:r>
            <a:r>
              <a:rPr lang="en-US" sz="1800" b="1" dirty="0" err="1"/>
              <a:t>lainnya</a:t>
            </a:r>
            <a:r>
              <a:rPr lang="en-US" sz="1800" b="1" dirty="0"/>
              <a:t>!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A3A8D-19CD-4466-210A-0DC0E5C14A66}"/>
              </a:ext>
            </a:extLst>
          </p:cNvPr>
          <p:cNvSpPr txBox="1"/>
          <p:nvPr/>
        </p:nvSpPr>
        <p:spPr>
          <a:xfrm>
            <a:off x="2628900" y="3963466"/>
            <a:ext cx="46863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Minggu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selanjutnya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kkan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membahas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jenis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alat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bantu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membuat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 </a:t>
            </a:r>
            <a:r>
              <a:rPr lang="en-US" sz="1050" b="1" dirty="0" err="1">
                <a:solidFill>
                  <a:schemeClr val="accent1"/>
                </a:solidFill>
                <a:latin typeface="Lato" panose="020F0502020204030203" pitchFamily="34" charset="0"/>
              </a:rPr>
              <a:t>algoritma</a:t>
            </a:r>
            <a:r>
              <a:rPr lang="en-US" sz="1050" b="1" dirty="0">
                <a:solidFill>
                  <a:schemeClr val="accent1"/>
                </a:solidFill>
                <a:latin typeface="Lato" panose="020F0502020204030203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6362E-0729-591B-BFBF-CC371E859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603515"/>
            <a:ext cx="1478279" cy="9149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C425F481-7B43-A967-8DA8-B53C341CEFAC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95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603;p23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 lang="en"/>
          </a:p>
        </p:txBody>
      </p:sp>
      <p:pic>
        <p:nvPicPr>
          <p:cNvPr id="2050" name="Picture 2" descr="Susann Hoffmann - Questions?">
            <a:extLst>
              <a:ext uri="{FF2B5EF4-FFF2-40B4-BE49-F238E27FC236}">
                <a16:creationId xmlns:a16="http://schemas.microsoft.com/office/drawing/2014/main" id="{03777214-5E9D-86E2-44E0-79ECC4929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4168">
            <a:off x="5575783" y="877859"/>
            <a:ext cx="2676681" cy="26766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1E9721DD-E14C-BC54-11B1-0AFAD6C90BAE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Google Shape;757;p34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 lang="en"/>
          </a:p>
        </p:txBody>
      </p:sp>
      <p:grpSp>
        <p:nvGrpSpPr>
          <p:cNvPr id="89" name="Google Shape;758;p34"/>
          <p:cNvGrpSpPr/>
          <p:nvPr/>
        </p:nvGrpSpPr>
        <p:grpSpPr>
          <a:xfrm>
            <a:off x="949843" y="517451"/>
            <a:ext cx="7525612" cy="4252748"/>
            <a:chOff x="1177450" y="241631"/>
            <a:chExt cx="6173152" cy="3616776"/>
          </a:xfrm>
        </p:grpSpPr>
        <p:sp>
          <p:nvSpPr>
            <p:cNvPr id="1048885" name="Google Shape;759;p34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886" name="Google Shape;760;p34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887" name="Google Shape;761;p34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888" name="Google Shape;762;p34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8889" name="Google Shape;763;p34"/>
          <p:cNvSpPr txBox="1">
            <a:spLocks noGrp="1"/>
          </p:cNvSpPr>
          <p:nvPr>
            <p:ph type="body" idx="4294967295"/>
          </p:nvPr>
        </p:nvSpPr>
        <p:spPr>
          <a:xfrm>
            <a:off x="1893981" y="815163"/>
            <a:ext cx="5612605" cy="353709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76200" indent="0">
              <a:buNone/>
            </a:pPr>
            <a:r>
              <a:rPr lang="en-US" sz="1800" b="1" dirty="0" err="1"/>
              <a:t>Referensi</a:t>
            </a:r>
            <a:endParaRPr lang="en-US" sz="1800" b="1" dirty="0"/>
          </a:p>
          <a:p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Lamhot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Sitorus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Algoritma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 dan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Pemrograman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. 2015. ANDI.</a:t>
            </a:r>
          </a:p>
          <a:p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Budi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Sutedjo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Algoritma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 Dan Teknik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Pemograman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: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Konsep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Implementasi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Lato" panose="020F0502020204030203" pitchFamily="34" charset="0"/>
              </a:rPr>
              <a:t>Aplikasi</a:t>
            </a:r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. 2004. ANDI.</a:t>
            </a:r>
          </a:p>
          <a:p>
            <a:r>
              <a:rPr lang="en-US" sz="1400" dirty="0">
                <a:solidFill>
                  <a:srgbClr val="000000"/>
                </a:solidFill>
                <a:latin typeface="Lato" panose="020F0502020204030203" pitchFamily="34" charset="0"/>
              </a:rPr>
              <a:t>B.J. Posen, Programming Flowcharting for Business Data Processing, John Wiley &amp; Sons, New York, 1978.</a:t>
            </a:r>
            <a:r>
              <a:rPr lang="en-US" sz="1100" dirty="0">
                <a:latin typeface="Lato" panose="020F0502020204030203" pitchFamily="34" charset="0"/>
              </a:rPr>
              <a:t> 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E046FB49-74C1-99D0-04BD-495AB2BA2C3C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Google Shape;769;p35"/>
          <p:cNvSpPr txBox="1">
            <a:spLocks noGrp="1"/>
          </p:cNvSpPr>
          <p:nvPr>
            <p:ph type="sldNum" idx="12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24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8920" name="Google Shape;770;p35"/>
          <p:cNvSpPr txBox="1">
            <a:spLocks noGrp="1"/>
          </p:cNvSpPr>
          <p:nvPr>
            <p:ph type="ctrTitle" idx="4294967295"/>
          </p:nvPr>
        </p:nvSpPr>
        <p:spPr>
          <a:xfrm>
            <a:off x="3960545" y="1202463"/>
            <a:ext cx="4288800" cy="832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Thanks!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1048921" name="Google Shape;771;p35"/>
          <p:cNvSpPr txBox="1">
            <a:spLocks noGrp="1"/>
          </p:cNvSpPr>
          <p:nvPr>
            <p:ph type="subTitle" idx="4294967295"/>
          </p:nvPr>
        </p:nvSpPr>
        <p:spPr>
          <a:xfrm>
            <a:off x="4201550" y="2063638"/>
            <a:ext cx="4288800" cy="18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accen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Any questions?</a:t>
            </a:r>
            <a:endParaRPr dirty="0">
              <a:highlight>
                <a:schemeClr val="accen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pic>
        <p:nvPicPr>
          <p:cNvPr id="2097173" name="Google Shape;772;p35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r="62099"/>
          <a:stretch>
            <a:fillRect/>
          </a:stretch>
        </p:blipFill>
        <p:spPr>
          <a:xfrm>
            <a:off x="648603" y="0"/>
            <a:ext cx="29208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82CA3055-478B-7C35-98E9-186210B2142A}"/>
              </a:ext>
            </a:extLst>
          </p:cNvPr>
          <p:cNvSpPr txBox="1"/>
          <p:nvPr/>
        </p:nvSpPr>
        <p:spPr>
          <a:xfrm>
            <a:off x="6536941" y="4829620"/>
            <a:ext cx="1919637" cy="2611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Lodovico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1027</Words>
  <Application>Microsoft Office PowerPoint</Application>
  <PresentationFormat>On-screen Show (16:9)</PresentationFormat>
  <Paragraphs>124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Lato</vt:lpstr>
      <vt:lpstr>Barlow SemiBold</vt:lpstr>
      <vt:lpstr>Wingdings</vt:lpstr>
      <vt:lpstr>CentSchbkCyrill BT</vt:lpstr>
      <vt:lpstr>Arial</vt:lpstr>
      <vt:lpstr>Barlow Light</vt:lpstr>
      <vt:lpstr>Inter</vt:lpstr>
      <vt:lpstr>Courier New</vt:lpstr>
      <vt:lpstr>Calibri</vt:lpstr>
      <vt:lpstr>Barlow Condensed Medium</vt:lpstr>
      <vt:lpstr>Lodovico template</vt:lpstr>
      <vt:lpstr>ALGORITMA DAN PEMROGRAMAN 1</vt:lpstr>
      <vt:lpstr>Rencana Pembelajaran Semester (RPS)</vt:lpstr>
      <vt:lpstr>Outline</vt:lpstr>
      <vt:lpstr>Perhatikan Gambar-Gambar Berikut!</vt:lpstr>
      <vt:lpstr>Algoritma dalam Kehidupan</vt:lpstr>
      <vt:lpstr>Definisi Kata Algoritma</vt:lpstr>
      <vt:lpstr>Sejarah Algoritma</vt:lpstr>
      <vt:lpstr>Konsep Dasar Algoritma</vt:lpstr>
      <vt:lpstr>Diagram Alir (Flow chart)</vt:lpstr>
      <vt:lpstr>Kode Semu (Pseudo Code)</vt:lpstr>
      <vt:lpstr>Komponen/Ciri-ciri Algoritma</vt:lpstr>
      <vt:lpstr>Sifat-Sifat Algoritma</vt:lpstr>
      <vt:lpstr>PowerPoint Presentation</vt:lpstr>
      <vt:lpstr>PowerPoint Presentation</vt:lpstr>
      <vt:lpstr>Konsep Dasar Pemrograman</vt:lpstr>
      <vt:lpstr>Bahasa Pemrograman</vt:lpstr>
      <vt:lpstr>Bahasa Pemrograman</vt:lpstr>
      <vt:lpstr>Kategori Bahasa pemrograman</vt:lpstr>
      <vt:lpstr>Kategori Bahasa pemrograman</vt:lpstr>
      <vt:lpstr>Kesimpulan</vt:lpstr>
      <vt:lpstr>Tugas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Fauziah</dc:creator>
  <cp:lastModifiedBy>Ahmad Hidayat</cp:lastModifiedBy>
  <cp:revision>16</cp:revision>
  <dcterms:created xsi:type="dcterms:W3CDTF">2023-09-17T04:38:05Z</dcterms:created>
  <dcterms:modified xsi:type="dcterms:W3CDTF">2024-10-09T07:18:17Z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07575e84859b476997a12cedd8680fc2</vt:lpwstr>
  </property>
</Properties>
</file>